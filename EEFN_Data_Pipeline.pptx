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148840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4A4FD6"/>
                </a:solidFill>
                <a:latin typeface="Consolas"/>
              </a:rPr>
              <a:t>EXOPLANET EVIDENCE FUSION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87168"/>
            <a:ext cx="9997135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400" b="0" i="0">
                <a:solidFill>
                  <a:srgbClr val="161B22"/>
                </a:solidFill>
                <a:latin typeface="Georgia"/>
              </a:rPr>
              <a:t>How raw telescope catalogs become a vetted, prioritized exoplanet candidate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794760"/>
            <a:ext cx="853409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450" b="0" i="0">
                <a:solidFill>
                  <a:srgbClr val="565F6E"/>
                </a:solidFill>
                <a:latin typeface="Segoe UI"/>
              </a:rPr>
              <a:t>Where the data comes from, how it is cleaned and merged, how features are engineered, how two models vote on each candidate, and — as honestly as the source documents allow — what this pipeline still cannot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087" y="489204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4A4FD6"/>
                </a:solidFill>
                <a:latin typeface="Georgia"/>
              </a:rPr>
              <a:t>5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087" y="546811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65F6E"/>
                </a:solidFill>
                <a:latin typeface="Segoe UI"/>
              </a:rPr>
              <a:t>CATALOGS LIVE IN REGULAR 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6967" y="489204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4A4FD6"/>
                </a:solidFill>
                <a:latin typeface="Georgia"/>
              </a:rPr>
              <a:t>196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26967" y="546811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65F6E"/>
                </a:solidFill>
                <a:latin typeface="Segoe UI"/>
              </a:rPr>
              <a:t>REAL CANDIDATES IN THE LIVE 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7" y="489204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4A4FD6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546811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65F6E"/>
                </a:solidFill>
                <a:latin typeface="Segoe UI"/>
              </a:rPr>
              <a:t>INDEPENDENT VETTING MODELS (RF + DL)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4727" y="489204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0" i="0">
                <a:solidFill>
                  <a:srgbClr val="4A4FD6"/>
                </a:solidFill>
                <a:latin typeface="Georgia"/>
              </a:rPr>
              <a:t>3″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64727" y="546811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65F6E"/>
                </a:solidFill>
                <a:latin typeface="Segoe UI"/>
              </a:rPr>
              <a:t>CROSS-MATCH SEARCH RADIUS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4A4FD6"/>
                </a:solidFill>
                <a:latin typeface="Consola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7589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 i="0">
                <a:solidFill>
                  <a:srgbClr val="161B22"/>
                </a:solidFill>
                <a:latin typeface="Georgia"/>
              </a:rPr>
              <a:t>No single catalog is trustworthy on its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65F6E"/>
                </a:solidFill>
                <a:latin typeface="Segoe UI"/>
              </a:rPr>
              <a:t>TESS flags a transit-like dip and calls it a candidate. The NASA Exoplanet Archive records what human reviewers eventually decided. Gaia never looked for planets at all — it just measured the star. Each source is useful and each is incomplete on its own; a background eclipsing binary, a bad stellar radius, or a wobble in a star's motion can all masquerade as a planet in exactly one of these catalogs and nowhere else.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87168"/>
            <a:ext cx="3576218" cy="141732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2587751"/>
            <a:ext cx="330189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DETECTION ≠ CONFIRMATION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2834639"/>
            <a:ext cx="330189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161B22"/>
                </a:solidFill>
                <a:latin typeface="Segoe UI"/>
              </a:rPr>
              <a:t>TESS's own pipeline over-flags. Most TOIs are never independently confirmed as real planets.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7738" y="2487168"/>
            <a:ext cx="3576218" cy="141732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4042" y="2587751"/>
            <a:ext cx="330189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CATALOGS DISAGREE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4042" y="2834639"/>
            <a:ext cx="330189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161B22"/>
                </a:solidFill>
                <a:latin typeface="Segoe UI"/>
              </a:rPr>
              <a:t>The same star can have a stellar radius that differs by 4–10% between TESS's estimate and Gaia's, changing the derived planet size.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2556" y="2487168"/>
            <a:ext cx="3576218" cy="141732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8860" y="2587751"/>
            <a:ext cx="330189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HUMAN VETTING DOESN'T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8860" y="2834639"/>
            <a:ext cx="330189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161B22"/>
                </a:solidFill>
                <a:latin typeface="Segoe UI"/>
              </a:rPr>
              <a:t>Manually cross-checking every candidate against three or more catalogs, by hand, for thousands of targets, is the actual bottleneck.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78808"/>
            <a:ext cx="11185855" cy="141732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178808"/>
            <a:ext cx="41148" cy="1417320"/>
          </a:xfrm>
          <a:prstGeom prst="rect">
            <a:avLst/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4279392"/>
            <a:ext cx="1085667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THE IDEA THIS PIPELINE IS BUILT AROUND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526280"/>
            <a:ext cx="10856671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161B22"/>
                </a:solidFill>
                <a:latin typeface="Segoe UI"/>
              </a:rPr>
              <a:t>Instead of trusting one catalog, fuse independent ones and quantify exactly where and how much they disagree, so that disagreement — not any single number — becomes the evidence a model and a human reviewer both look at. TOI, the NASA Archive and Gaia anchor this (detection, verdict, independent baseline); 2MASS and Pan-STARRS extend it with two more independently-measured photometric bands per star, cross-matched the same 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4A4FD6"/>
                </a:solidFill>
                <a:latin typeface="Consolas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7589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 i="0">
                <a:solidFill>
                  <a:srgbClr val="161B22"/>
                </a:solidFill>
                <a:latin typeface="Georgia"/>
              </a:rPr>
              <a:t>The whole pipeline, end to 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31720"/>
            <a:ext cx="1650949" cy="1051560"/>
          </a:xfrm>
          <a:prstGeom prst="roundRect">
            <a:avLst>
              <a:gd name="adj" fmla="val 12000"/>
            </a:avLst>
          </a:prstGeom>
          <a:solidFill>
            <a:srgbClr val="E3E6EC"/>
          </a:solidFill>
          <a:ln w="1651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2532888"/>
            <a:ext cx="150464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61B22"/>
                </a:solidFill>
                <a:latin typeface="Segoe UI"/>
              </a:rPr>
              <a:t>CATALOGS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990087"/>
            <a:ext cx="150464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565F6E"/>
                </a:solidFill>
                <a:latin typeface="Segoe UI"/>
              </a:rPr>
              <a:t>TOI · NASA · Gaia +4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53869" y="2857500"/>
            <a:ext cx="256032" cy="0"/>
          </a:xfrm>
          <a:prstGeom prst="line">
            <a:avLst/>
          </a:prstGeom>
          <a:ln w="16510">
            <a:solidFill>
              <a:srgbClr val="161B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09901" y="2331720"/>
            <a:ext cx="1650949" cy="1051560"/>
          </a:xfrm>
          <a:prstGeom prst="roundRect">
            <a:avLst>
              <a:gd name="adj" fmla="val 12000"/>
            </a:avLst>
          </a:prstGeom>
          <a:solidFill>
            <a:srgbClr val="E3E6EC"/>
          </a:solidFill>
          <a:ln w="1651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3053" y="2532888"/>
            <a:ext cx="150464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61B22"/>
                </a:solidFill>
                <a:latin typeface="Segoe UI"/>
              </a:rPr>
              <a:t>INGEST +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3053" y="2990087"/>
            <a:ext cx="150464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565F6E"/>
                </a:solidFill>
                <a:latin typeface="Segoe UI"/>
              </a:rPr>
              <a:t>CDS X-Match, 3″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60850" y="2857500"/>
            <a:ext cx="256032" cy="0"/>
          </a:xfrm>
          <a:prstGeom prst="line">
            <a:avLst/>
          </a:prstGeom>
          <a:ln w="16510">
            <a:solidFill>
              <a:srgbClr val="161B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16882" y="2331720"/>
            <a:ext cx="1650949" cy="1051560"/>
          </a:xfrm>
          <a:prstGeom prst="roundRect">
            <a:avLst>
              <a:gd name="adj" fmla="val 12000"/>
            </a:avLst>
          </a:prstGeom>
          <a:solidFill>
            <a:srgbClr val="E3E6EC"/>
          </a:solidFill>
          <a:ln w="1651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0034" y="2532888"/>
            <a:ext cx="150464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61B22"/>
                </a:solidFill>
                <a:latin typeface="Segoe UI"/>
              </a:rPr>
              <a:t>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0034" y="2990087"/>
            <a:ext cx="150464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565F6E"/>
                </a:solidFill>
                <a:latin typeface="Segoe UI"/>
              </a:rPr>
              <a:t>detrend · dedupe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67831" y="2857500"/>
            <a:ext cx="256032" cy="0"/>
          </a:xfrm>
          <a:prstGeom prst="line">
            <a:avLst/>
          </a:prstGeom>
          <a:ln w="16510">
            <a:solidFill>
              <a:srgbClr val="161B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23863" y="2331720"/>
            <a:ext cx="1650949" cy="1051560"/>
          </a:xfrm>
          <a:prstGeom prst="roundRect">
            <a:avLst>
              <a:gd name="adj" fmla="val 12000"/>
            </a:avLst>
          </a:prstGeom>
          <a:solidFill>
            <a:srgbClr val="E3E6EC"/>
          </a:solidFill>
          <a:ln w="1651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7015" y="2532888"/>
            <a:ext cx="150464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61B22"/>
                </a:solidFill>
                <a:latin typeface="Segoe UI"/>
              </a:rPr>
              <a:t>MERGE / 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7015" y="2990087"/>
            <a:ext cx="150464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565F6E"/>
                </a:solidFill>
                <a:latin typeface="Segoe UI"/>
              </a:rPr>
              <a:t>relational DB, upsert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74812" y="2857500"/>
            <a:ext cx="256032" cy="0"/>
          </a:xfrm>
          <a:prstGeom prst="line">
            <a:avLst/>
          </a:prstGeom>
          <a:ln w="16510">
            <a:solidFill>
              <a:srgbClr val="161B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30844" y="2331720"/>
            <a:ext cx="1650949" cy="1051560"/>
          </a:xfrm>
          <a:prstGeom prst="roundRect">
            <a:avLst>
              <a:gd name="adj" fmla="val 12000"/>
            </a:avLst>
          </a:prstGeom>
          <a:solidFill>
            <a:srgbClr val="E3E6EC"/>
          </a:solidFill>
          <a:ln w="1651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3996" y="2532888"/>
            <a:ext cx="150464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61B22"/>
                </a:solidFill>
                <a:latin typeface="Segoe UI"/>
              </a:rPr>
              <a:t>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2990087"/>
            <a:ext cx="150464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565F6E"/>
                </a:solidFill>
                <a:latin typeface="Segoe UI"/>
              </a:rPr>
              <a:t>tabular + curve + meta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781794" y="2857500"/>
            <a:ext cx="256032" cy="0"/>
          </a:xfrm>
          <a:prstGeom prst="line">
            <a:avLst/>
          </a:prstGeom>
          <a:ln w="16510">
            <a:solidFill>
              <a:srgbClr val="161B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037826" y="2331720"/>
            <a:ext cx="1650949" cy="1051560"/>
          </a:xfrm>
          <a:prstGeom prst="roundRect">
            <a:avLst>
              <a:gd name="adj" fmla="val 12000"/>
            </a:avLst>
          </a:prstGeom>
          <a:solidFill>
            <a:srgbClr val="E8E8FB"/>
          </a:solidFill>
          <a:ln w="16510">
            <a:solidFill>
              <a:srgbClr val="4A4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10978" y="2532888"/>
            <a:ext cx="150464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4A4FD6"/>
                </a:solidFill>
                <a:latin typeface="Segoe UI"/>
              </a:rPr>
              <a:t>MODELS +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10978" y="2990087"/>
            <a:ext cx="150464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565F6E"/>
                </a:solidFill>
                <a:latin typeface="Segoe UI"/>
              </a:rPr>
              <a:t>RF · DeepExoFusionNet · alerts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703320"/>
            <a:ext cx="111858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565F6E"/>
                </a:solidFill>
                <a:latin typeface="Segoe UI"/>
              </a:rPr>
              <a:t>Every stage in this deck follows this order — a small version of this map marks where each slide sits, so the detail never loses the shape of the whole pipeline.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389120"/>
            <a:ext cx="3576218" cy="96012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" y="4489704"/>
            <a:ext cx="330189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SOURCES → INGEST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" y="4736592"/>
            <a:ext cx="330189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161B22"/>
                </a:solidFill>
                <a:latin typeface="Segoe UI"/>
              </a:rPr>
              <a:t>Three-plus catalogs, joined on sky position, not just an ID string.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07738" y="4389120"/>
            <a:ext cx="3576218" cy="96012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54042" y="4489704"/>
            <a:ext cx="330189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CLEAN → MERGE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4042" y="4736592"/>
            <a:ext cx="330189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161B22"/>
                </a:solidFill>
                <a:latin typeface="Segoe UI"/>
              </a:rPr>
              <a:t>Detrend, never fabricate a missing value, store once in a relational schema.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2556" y="4389120"/>
            <a:ext cx="3576218" cy="96012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8860" y="4489704"/>
            <a:ext cx="330189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FEATURES → MODELS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8860" y="4736592"/>
            <a:ext cx="330189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161B22"/>
                </a:solidFill>
                <a:latin typeface="Segoe UI"/>
              </a:rPr>
              <a:t>Catalog disagreement becomes the signal; two independent models vote.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4A4FD6"/>
                </a:solidFill>
                <a:latin typeface="Consolas"/>
              </a:rPr>
              <a:t>STAGE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7589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 i="0">
                <a:solidFill>
                  <a:srgbClr val="161B22"/>
                </a:solidFill>
                <a:latin typeface="Georgia"/>
              </a:rPr>
              <a:t>Where the data comes from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4437" y="384048"/>
            <a:ext cx="863193" cy="246888"/>
          </a:xfrm>
          <a:prstGeom prst="roundRect">
            <a:avLst>
              <a:gd name="adj" fmla="val 45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1">
                <a:solidFill>
                  <a:srgbClr val="FFFFFF"/>
                </a:solidFill>
                <a:latin typeface="Consolas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7631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44791" y="384048"/>
            <a:ext cx="779068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3859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1019" y="384048"/>
            <a:ext cx="694944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5963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3124" y="384048"/>
            <a:ext cx="694944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MERGE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8067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5228" y="384048"/>
            <a:ext cx="947318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2546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09706" y="384048"/>
            <a:ext cx="779068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57276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65F6E"/>
                </a:solidFill>
                <a:latin typeface="Segoe UI"/>
              </a:rPr>
              <a:t>Five catalogs are live in regular, rate-limited sync right now — every one of them cross-matched onto the same host star by sky position, not just an ID string.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075688"/>
            <a:ext cx="2127443" cy="1737360"/>
          </a:xfrm>
          <a:prstGeom prst="roundRect">
            <a:avLst>
              <a:gd name="adj" fmla="val 8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167128"/>
            <a:ext cx="190798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61B22"/>
                </a:solidFill>
                <a:latin typeface="Segoe UI"/>
              </a:rPr>
              <a:t>TESS TOI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2395728"/>
            <a:ext cx="190798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565F6E"/>
                </a:solidFill>
                <a:latin typeface="Segoe UI"/>
              </a:rPr>
              <a:t>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2697480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65F6E"/>
                </a:solidFill>
                <a:latin typeface="Consolas"/>
              </a:rPr>
              <a:t>toi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2866644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61B22"/>
                </a:solidFill>
                <a:latin typeface="Consolas"/>
              </a:rPr>
              <a:t>1017.01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3063240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65F6E"/>
                </a:solidFill>
                <a:latin typeface="Consolas"/>
              </a:rPr>
              <a:t>st_teff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3232404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61B22"/>
                </a:solidFill>
                <a:latin typeface="Consolas"/>
              </a:rPr>
              <a:t>5600 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3429000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65F6E"/>
                </a:solidFill>
                <a:latin typeface="Consolas"/>
              </a:rPr>
              <a:t>pl_trandep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3598164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61B22"/>
                </a:solidFill>
                <a:latin typeface="Consolas"/>
              </a:rPr>
              <a:t>1600 ppm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67523" y="2075688"/>
            <a:ext cx="2127443" cy="1737360"/>
          </a:xfrm>
          <a:prstGeom prst="roundRect">
            <a:avLst>
              <a:gd name="adj" fmla="val 8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77251" y="2167128"/>
            <a:ext cx="190798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61B22"/>
                </a:solidFill>
                <a:latin typeface="Segoe UI"/>
              </a:rPr>
              <a:t>NASA Archive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77251" y="2395728"/>
            <a:ext cx="190798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565F6E"/>
                </a:solidFill>
                <a:latin typeface="Segoe UI"/>
              </a:rPr>
              <a:t>human verdict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77251" y="2697480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65F6E"/>
                </a:solidFill>
                <a:latin typeface="Consolas"/>
              </a:rPr>
              <a:t>tfopwg_disp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77251" y="2866644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61B22"/>
                </a:solidFill>
                <a:latin typeface="Consolas"/>
              </a:rPr>
              <a:t>"PC"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77251" y="3063240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65F6E"/>
                </a:solidFill>
                <a:latin typeface="Consolas"/>
              </a:rPr>
              <a:t>→ disposition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77251" y="3429000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65F6E"/>
                </a:solidFill>
                <a:latin typeface="Consolas"/>
              </a:rPr>
              <a:t>PC/CP/FP/FA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32126" y="2075688"/>
            <a:ext cx="2127443" cy="1737360"/>
          </a:xfrm>
          <a:prstGeom prst="roundRect">
            <a:avLst>
              <a:gd name="adj" fmla="val 8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41854" y="2167128"/>
            <a:ext cx="190798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61B22"/>
                </a:solidFill>
                <a:latin typeface="Segoe UI"/>
              </a:rPr>
              <a:t>Gaia DR3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41854" y="2395728"/>
            <a:ext cx="190798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565F6E"/>
                </a:solidFill>
                <a:latin typeface="Segoe UI"/>
              </a:rPr>
              <a:t>indep. baseline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41854" y="2697480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65F6E"/>
                </a:solidFill>
                <a:latin typeface="Consolas"/>
              </a:rPr>
              <a:t>RUWE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41854" y="2866644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61B22"/>
                </a:solidFill>
                <a:latin typeface="Consolas"/>
              </a:rPr>
              <a:t>1.05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41854" y="3063240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65F6E"/>
                </a:solidFill>
                <a:latin typeface="Consolas"/>
              </a:rPr>
              <a:t>Rad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41854" y="3232404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61B22"/>
                </a:solidFill>
                <a:latin typeface="Consolas"/>
              </a:rPr>
              <a:t>1.25 R☉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41854" y="3429000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65F6E"/>
                </a:solidFill>
                <a:latin typeface="Consolas"/>
              </a:rPr>
              <a:t>Dist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41854" y="3598164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61B22"/>
                </a:solidFill>
                <a:latin typeface="Consolas"/>
              </a:rPr>
              <a:t>150.1 pc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96729" y="2075688"/>
            <a:ext cx="2127443" cy="1737360"/>
          </a:xfrm>
          <a:prstGeom prst="roundRect">
            <a:avLst>
              <a:gd name="adj" fmla="val 8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457" y="2167128"/>
            <a:ext cx="190798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61B22"/>
                </a:solidFill>
                <a:latin typeface="Segoe UI"/>
              </a:rPr>
              <a:t>2MASS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457" y="2395728"/>
            <a:ext cx="190798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565F6E"/>
                </a:solidFill>
                <a:latin typeface="Segoe UI"/>
              </a:rPr>
              <a:t>near-IR photometry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457" y="2697480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65F6E"/>
                </a:solidFill>
                <a:latin typeface="Consolas"/>
              </a:rPr>
              <a:t>Jmag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457" y="2866644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61B22"/>
                </a:solidFill>
                <a:latin typeface="Consolas"/>
              </a:rPr>
              <a:t>9.50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457" y="3063240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65F6E"/>
                </a:solidFill>
                <a:latin typeface="Consolas"/>
              </a:rPr>
              <a:t>Hmag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457" y="3232404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61B22"/>
                </a:solidFill>
                <a:latin typeface="Consolas"/>
              </a:rPr>
              <a:t>9.10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457" y="3429000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65F6E"/>
                </a:solidFill>
                <a:latin typeface="Consolas"/>
              </a:rPr>
              <a:t>Kmag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457" y="3598164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61B22"/>
                </a:solidFill>
                <a:latin typeface="Consolas"/>
              </a:rPr>
              <a:t>9.00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61332" y="2075688"/>
            <a:ext cx="2127443" cy="1737360"/>
          </a:xfrm>
          <a:prstGeom prst="roundRect">
            <a:avLst>
              <a:gd name="adj" fmla="val 8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71060" y="2167128"/>
            <a:ext cx="190798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61B22"/>
                </a:solidFill>
                <a:latin typeface="Segoe UI"/>
              </a:rPr>
              <a:t>Pan-STARRS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71060" y="2395728"/>
            <a:ext cx="1907987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565F6E"/>
                </a:solidFill>
                <a:latin typeface="Segoe UI"/>
              </a:rPr>
              <a:t>optical photometry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71060" y="2697480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65F6E"/>
                </a:solidFill>
                <a:latin typeface="Consolas"/>
              </a:rPr>
              <a:t>gmag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71060" y="2866644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61B22"/>
                </a:solidFill>
                <a:latin typeface="Consolas"/>
              </a:rPr>
              <a:t>12.10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71060" y="3063240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65F6E"/>
                </a:solidFill>
                <a:latin typeface="Consolas"/>
              </a:rPr>
              <a:t>rmag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71060" y="3232404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61B22"/>
                </a:solidFill>
                <a:latin typeface="Consolas"/>
              </a:rPr>
              <a:t>11.80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71060" y="3429000"/>
            <a:ext cx="190798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65F6E"/>
                </a:solidFill>
                <a:latin typeface="Consolas"/>
              </a:rPr>
              <a:t>+i,z,y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" y="3995928"/>
            <a:ext cx="11185855" cy="105156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9224" y="4096512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7 CATALOGS PLANNED, 5 LIVE, 2 REAL BUT SUBSET-ONLY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" y="4343400"/>
            <a:ext cx="10911535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161B22"/>
                </a:solidFill>
                <a:latin typeface="Segoe UI"/>
              </a:rPr>
              <a:t>The last two are genuine, network-verified measurements (not seed/demo data) — they're just not run at full catalog scale yet; see the closing slides.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85800" y="4379976"/>
            <a:ext cx="2779776" cy="246888"/>
          </a:xfrm>
          <a:prstGeom prst="roundRect">
            <a:avLst>
              <a:gd name="adj" fmla="val 50000"/>
            </a:avLst>
          </a:prstGeom>
          <a:solidFill>
            <a:srgbClr val="DC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850" b="1">
                <a:solidFill>
                  <a:srgbClr val="1C7A4D"/>
                </a:solidFill>
                <a:latin typeface="Consolas"/>
              </a:rPr>
              <a:t>● all 5 above sync on a schedule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30168" y="4379976"/>
            <a:ext cx="3712464" cy="246888"/>
          </a:xfrm>
          <a:prstGeom prst="roundRect">
            <a:avLst>
              <a:gd name="adj" fmla="val 50000"/>
            </a:avLst>
          </a:prstGeom>
          <a:solidFill>
            <a:srgbClr val="F7E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850" b="1">
                <a:solidFill>
                  <a:srgbClr val="A8660C"/>
                </a:solidFill>
                <a:latin typeface="Consolas"/>
              </a:rPr>
              <a:t>◐ APOGEE-2 spectroscopy — 2/25 stars matched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507224" y="4379976"/>
            <a:ext cx="3945636" cy="246888"/>
          </a:xfrm>
          <a:prstGeom prst="roundRect">
            <a:avLst>
              <a:gd name="adj" fmla="val 50000"/>
            </a:avLst>
          </a:prstGeom>
          <a:solidFill>
            <a:srgbClr val="F7E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850" b="1">
                <a:solidFill>
                  <a:srgbClr val="A8660C"/>
                </a:solidFill>
                <a:latin typeface="Consolas"/>
              </a:rPr>
              <a:t>◐ MAST TESS centroid — verified on 5 candidates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4A4FD6"/>
                </a:solidFill>
                <a:latin typeface="Consolas"/>
              </a:rPr>
              <a:t>STAGE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7589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 i="0">
                <a:solidFill>
                  <a:srgbClr val="161B22"/>
                </a:solidFill>
                <a:latin typeface="Georgia"/>
              </a:rPr>
              <a:t>Ingesting and cross-matching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4437" y="384048"/>
            <a:ext cx="863193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7631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44791" y="384048"/>
            <a:ext cx="779068" cy="246888"/>
          </a:xfrm>
          <a:prstGeom prst="roundRect">
            <a:avLst>
              <a:gd name="adj" fmla="val 45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1">
                <a:solidFill>
                  <a:srgbClr val="FFFFFF"/>
                </a:solidFill>
                <a:latin typeface="Consolas"/>
              </a:rP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3859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1019" y="384048"/>
            <a:ext cx="694944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5963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3124" y="384048"/>
            <a:ext cx="694944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MERGE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8067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5228" y="384048"/>
            <a:ext cx="947318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2546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09706" y="384048"/>
            <a:ext cx="779068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572768"/>
            <a:ext cx="6309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65F6E"/>
                </a:solidFill>
                <a:latin typeface="Segoe UI"/>
              </a:rPr>
              <a:t>TOI and NASA Archive rows share an ID system; Gaia does not. So every TOI's sky position is sent to CDS's X-Match service and joined to the nearest Gaia source within a fixed search radius — the same technique an astronomer uses at a telescope, automated.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2852928"/>
            <a:ext cx="2377440" cy="2377440"/>
          </a:xfrm>
          <a:prstGeom prst="ellipse">
            <a:avLst/>
          </a:prstGeom>
          <a:noFill/>
          <a:ln w="13970">
            <a:solidFill>
              <a:srgbClr val="AEB4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54480" y="3584448"/>
            <a:ext cx="128016" cy="128016"/>
          </a:xfrm>
          <a:prstGeom prst="ellipse">
            <a:avLst/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328416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161B22"/>
                </a:solidFill>
                <a:latin typeface="Segoe UI"/>
              </a:rPr>
              <a:t>TOI-1017.01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7274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65F6E"/>
                </a:solidFill>
                <a:latin typeface="Segoe UI"/>
              </a:rPr>
              <a:t>RA 120.4567°  Dec −45.1234°</a:t>
            </a:r>
          </a:p>
        </p:txBody>
      </p:sp>
      <p:sp>
        <p:nvSpPr>
          <p:cNvPr id="20" name="Oval 19"/>
          <p:cNvSpPr/>
          <p:nvPr/>
        </p:nvSpPr>
        <p:spPr>
          <a:xfrm>
            <a:off x="1920240" y="3813048"/>
            <a:ext cx="118872" cy="118872"/>
          </a:xfrm>
          <a:prstGeom prst="ellipse">
            <a:avLst/>
          </a:prstGeom>
          <a:noFill/>
          <a:ln w="17780">
            <a:solidFill>
              <a:srgbClr val="161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396849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161B22"/>
                </a:solidFill>
                <a:latin typeface="Segoe UI"/>
              </a:rPr>
              <a:t>Gaia 53123456789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618488" y="3648456"/>
            <a:ext cx="356616" cy="219456"/>
          </a:xfrm>
          <a:prstGeom prst="line">
            <a:avLst/>
          </a:prstGeom>
          <a:ln w="12700">
            <a:solidFill>
              <a:srgbClr val="161B22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51560" y="509320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565F6E"/>
                </a:solidFill>
                <a:latin typeface="Segoe UI"/>
              </a:rPr>
              <a:t>separation &lt; 3″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00400" y="3995928"/>
            <a:ext cx="548639" cy="0"/>
          </a:xfrm>
          <a:prstGeom prst="line">
            <a:avLst/>
          </a:prstGeom>
          <a:ln w="16510">
            <a:solidFill>
              <a:srgbClr val="161B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794760" y="3675887"/>
            <a:ext cx="2331720" cy="685800"/>
          </a:xfrm>
          <a:prstGeom prst="roundRect">
            <a:avLst>
              <a:gd name="adj" fmla="val 14000"/>
            </a:avLst>
          </a:prstGeom>
          <a:solidFill>
            <a:srgbClr val="E8E8FB"/>
          </a:solidFill>
          <a:ln w="15240">
            <a:solidFill>
              <a:srgbClr val="4A4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379476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4A4FD6"/>
                </a:solidFill>
                <a:latin typeface="Segoe UI"/>
              </a:rPr>
              <a:t>MATCHED 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4059935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565F6E"/>
                </a:solidFill>
                <a:latin typeface="Segoe UI"/>
              </a:rPr>
              <a:t>host_star ⟷ candidate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550408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1">
                <a:solidFill>
                  <a:srgbClr val="565F6E"/>
                </a:solidFill>
                <a:latin typeface="Segoe UI"/>
              </a:rPr>
              <a:t>Every TOI's sky position is spatially joined to a Gaia source within 3 arcseconds via CDS X-Match — the same join method used for 2MASS and Pan-STARRS.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59" y="1572768"/>
            <a:ext cx="4465015" cy="141732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70063" y="1673352"/>
            <a:ext cx="419069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RATE LIMITED BY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70063" y="1920240"/>
            <a:ext cx="4190695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161B22"/>
                </a:solidFill>
                <a:latin typeface="Segoe UI"/>
              </a:rPr>
              <a:t>A Redis-backed token bucket caps every NASA TAP and CDS X-Match call — including retries — at 2 requests/second, shared across all worker processes, so the pipeline is a polite guest on public astronomy servers.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23759" y="3172968"/>
            <a:ext cx="4465015" cy="141732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0063" y="3273551"/>
            <a:ext cx="419069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IDEMPOTENT, NOT RESUMABLE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0063" y="3520439"/>
            <a:ext cx="4190695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161B22"/>
                </a:solidFill>
                <a:latin typeface="Segoe UI"/>
              </a:rPr>
              <a:t>Re-running ingestion is always safe: it upserts rather than duplicates. It is not yet resumable mid-run — a killed run restarts from the top rather than skipping already-committed targets.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4A4FD6"/>
                </a:solidFill>
                <a:latin typeface="Consolas"/>
              </a:rPr>
              <a:t>STAGE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7589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 i="0">
                <a:solidFill>
                  <a:srgbClr val="161B22"/>
                </a:solidFill>
                <a:latin typeface="Georgia"/>
              </a:rPr>
              <a:t>Cleaning the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4437" y="384048"/>
            <a:ext cx="863193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7631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44791" y="384048"/>
            <a:ext cx="779068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3859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1019" y="384048"/>
            <a:ext cx="694944" cy="246888"/>
          </a:xfrm>
          <a:prstGeom prst="roundRect">
            <a:avLst>
              <a:gd name="adj" fmla="val 45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1">
                <a:solidFill>
                  <a:srgbClr val="FFFFFF"/>
                </a:solidFill>
                <a:latin typeface="Consolas"/>
              </a:rPr>
              <a:t>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5963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3124" y="384048"/>
            <a:ext cx="694944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MERGE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8067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5228" y="384048"/>
            <a:ext cx="947318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2546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09706" y="384048"/>
            <a:ext cx="779068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554480"/>
            <a:ext cx="6217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565F6E"/>
                </a:solidFill>
                <a:latin typeface="Segoe UI"/>
              </a:rPr>
              <a:t>DETRENDING A LIGHT CURVE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86537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65F6E"/>
                </a:solidFill>
                <a:latin typeface="Segoe UI"/>
              </a:rPr>
              <a:t>RAW — starspot wave hides the dip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02920" y="2377440"/>
            <a:ext cx="502920" cy="54864"/>
          </a:xfrm>
          <a:prstGeom prst="line">
            <a:avLst/>
          </a:prstGeom>
          <a:ln w="17780">
            <a:solidFill>
              <a:srgbClr val="161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05840" y="2377440"/>
            <a:ext cx="502920" cy="109728"/>
          </a:xfrm>
          <a:prstGeom prst="line">
            <a:avLst/>
          </a:prstGeom>
          <a:ln w="17780">
            <a:solidFill>
              <a:srgbClr val="161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508760" y="2395728"/>
            <a:ext cx="502920" cy="91440"/>
          </a:xfrm>
          <a:prstGeom prst="line">
            <a:avLst/>
          </a:prstGeom>
          <a:ln w="17780">
            <a:solidFill>
              <a:srgbClr val="161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011680" y="2395728"/>
            <a:ext cx="502920" cy="109728"/>
          </a:xfrm>
          <a:prstGeom prst="line">
            <a:avLst/>
          </a:prstGeom>
          <a:ln w="17780">
            <a:solidFill>
              <a:srgbClr val="161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514600" y="2414016"/>
            <a:ext cx="502920" cy="91440"/>
          </a:xfrm>
          <a:prstGeom prst="line">
            <a:avLst/>
          </a:prstGeom>
          <a:ln w="17780">
            <a:solidFill>
              <a:srgbClr val="161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17520" y="2414016"/>
            <a:ext cx="320040" cy="219456"/>
          </a:xfrm>
          <a:prstGeom prst="line">
            <a:avLst/>
          </a:prstGeom>
          <a:ln w="17780">
            <a:solidFill>
              <a:srgbClr val="161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337560" y="2633472"/>
            <a:ext cx="228600" cy="73152"/>
          </a:xfrm>
          <a:prstGeom prst="line">
            <a:avLst/>
          </a:prstGeom>
          <a:ln w="17780">
            <a:solidFill>
              <a:srgbClr val="161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66160" y="2633472"/>
            <a:ext cx="228600" cy="73152"/>
          </a:xfrm>
          <a:prstGeom prst="line">
            <a:avLst/>
          </a:prstGeom>
          <a:ln w="17780">
            <a:solidFill>
              <a:srgbClr val="161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794760" y="2432304"/>
            <a:ext cx="365760" cy="201168"/>
          </a:xfrm>
          <a:prstGeom prst="line">
            <a:avLst/>
          </a:prstGeom>
          <a:ln w="17780">
            <a:solidFill>
              <a:srgbClr val="161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160520" y="2432304"/>
            <a:ext cx="548639" cy="54864"/>
          </a:xfrm>
          <a:prstGeom prst="line">
            <a:avLst/>
          </a:prstGeom>
          <a:ln w="17780">
            <a:solidFill>
              <a:srgbClr val="161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709159" y="2377440"/>
            <a:ext cx="502921" cy="109728"/>
          </a:xfrm>
          <a:prstGeom prst="line">
            <a:avLst/>
          </a:prstGeom>
          <a:ln w="17780">
            <a:solidFill>
              <a:srgbClr val="161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212080" y="2377440"/>
            <a:ext cx="502920" cy="73152"/>
          </a:xfrm>
          <a:prstGeom prst="line">
            <a:avLst/>
          </a:prstGeom>
          <a:ln w="17780">
            <a:solidFill>
              <a:srgbClr val="161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715000" y="2377440"/>
            <a:ext cx="502920" cy="73152"/>
          </a:xfrm>
          <a:prstGeom prst="line">
            <a:avLst/>
          </a:prstGeom>
          <a:ln w="17780">
            <a:solidFill>
              <a:srgbClr val="161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17920" y="2377440"/>
            <a:ext cx="502920" cy="54864"/>
          </a:xfrm>
          <a:prstGeom prst="line">
            <a:avLst/>
          </a:prstGeom>
          <a:ln w="17780">
            <a:solidFill>
              <a:srgbClr val="161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02920" y="2432304"/>
            <a:ext cx="6217920" cy="0"/>
          </a:xfrm>
          <a:prstGeom prst="line">
            <a:avLst/>
          </a:prstGeom>
          <a:ln w="10160">
            <a:solidFill>
              <a:srgbClr val="AEB4C2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2920" y="282549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65F6E"/>
                </a:solidFill>
                <a:latin typeface="Segoe UI"/>
              </a:rPr>
              <a:t>CLEANED — moving-median baseline divided out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3392424"/>
            <a:ext cx="2651760" cy="0"/>
          </a:xfrm>
          <a:prstGeom prst="line">
            <a:avLst/>
          </a:prstGeom>
          <a:ln w="22860">
            <a:solidFill>
              <a:srgbClr val="4A4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154680" y="3392424"/>
            <a:ext cx="228600" cy="0"/>
          </a:xfrm>
          <a:prstGeom prst="line">
            <a:avLst/>
          </a:prstGeom>
          <a:ln w="22860">
            <a:solidFill>
              <a:srgbClr val="4A4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83280" y="3392424"/>
            <a:ext cx="182880" cy="320039"/>
          </a:xfrm>
          <a:prstGeom prst="line">
            <a:avLst/>
          </a:prstGeom>
          <a:ln w="22860">
            <a:solidFill>
              <a:srgbClr val="4A4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66160" y="3712463"/>
            <a:ext cx="182879" cy="64009"/>
          </a:xfrm>
          <a:prstGeom prst="line">
            <a:avLst/>
          </a:prstGeom>
          <a:ln w="22860">
            <a:solidFill>
              <a:srgbClr val="4A4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749039" y="3712463"/>
            <a:ext cx="182881" cy="64009"/>
          </a:xfrm>
          <a:prstGeom prst="line">
            <a:avLst/>
          </a:prstGeom>
          <a:ln w="22860">
            <a:solidFill>
              <a:srgbClr val="4A4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931920" y="3392424"/>
            <a:ext cx="182880" cy="320039"/>
          </a:xfrm>
          <a:prstGeom prst="line">
            <a:avLst/>
          </a:prstGeom>
          <a:ln w="22860">
            <a:solidFill>
              <a:srgbClr val="4A4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114800" y="3392424"/>
            <a:ext cx="2606040" cy="0"/>
          </a:xfrm>
          <a:prstGeom prst="line">
            <a:avLst/>
          </a:prstGeom>
          <a:ln w="22860">
            <a:solidFill>
              <a:srgbClr val="4A4F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788920" y="389534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4A4FD6"/>
                </a:solidFill>
                <a:latin typeface="Segoe UI"/>
              </a:rPr>
              <a:t>transit dip, isolated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215384"/>
            <a:ext cx="6217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1">
                <a:solidFill>
                  <a:srgbClr val="565F6E"/>
                </a:solidFill>
                <a:latin typeface="Segoe UI"/>
              </a:rPr>
              <a:t>Example: raw brightness [1.01, 1.02, 1.01, 0.99, 0.98] is divided by its own moving-median window, flattening the baseline to exactly 1.0 so only the real dip survives.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40880" y="1572768"/>
            <a:ext cx="4647895" cy="169164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040880" y="1572768"/>
            <a:ext cx="41148" cy="1691640"/>
          </a:xfrm>
          <a:prstGeom prst="rect">
            <a:avLst/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42048" y="1673352"/>
            <a:ext cx="431871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NEVER FABRICATE A MISSING VALUE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42048" y="1920240"/>
            <a:ext cx="4318711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161B22"/>
                </a:solidFill>
                <a:latin typeface="Segoe UI"/>
              </a:rPr>
              <a:t>If st_dist or any other field wasn't actually measured, it stays null through cleaning — never silently replaced with a plausible-looking constant. What to do about a missing value is a modeling decision, made explicitly later, not hidden here.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040880" y="3447287"/>
            <a:ext cx="4647895" cy="169164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87184" y="3547871"/>
            <a:ext cx="43735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ONLY LOG WHAT ACTUALLY CHANGED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87184" y="3794759"/>
            <a:ext cx="4373575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161B22"/>
                </a:solidFill>
                <a:latin typeface="Segoe UI"/>
              </a:rPr>
              <a:t>Re-syncing a candidate writes a new MeasurementHistory row only when a value genuinely differs from what's already stored. A disposition flip from PC to FP is recorded as a timestamped change event; an unchanged re-ingested value writes nothing at 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4A4FD6"/>
                </a:solidFill>
                <a:latin typeface="Consolas"/>
              </a:rPr>
              <a:t>STAGE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7589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 i="0">
                <a:solidFill>
                  <a:srgbClr val="161B22"/>
                </a:solidFill>
                <a:latin typeface="Georgia"/>
              </a:rPr>
              <a:t>Merging into a single relational store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4437" y="384048"/>
            <a:ext cx="863193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7631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44791" y="384048"/>
            <a:ext cx="779068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3859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1019" y="384048"/>
            <a:ext cx="694944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5963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3124" y="384048"/>
            <a:ext cx="694944" cy="246888"/>
          </a:xfrm>
          <a:prstGeom prst="roundRect">
            <a:avLst>
              <a:gd name="adj" fmla="val 45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1">
                <a:solidFill>
                  <a:srgbClr val="FFFFFF"/>
                </a:solidFill>
                <a:latin typeface="Consolas"/>
              </a:rPr>
              <a:t>MERGE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8067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5228" y="384048"/>
            <a:ext cx="947318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2546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09706" y="384048"/>
            <a:ext cx="779068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618488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E3E6EC"/>
          </a:solidFill>
          <a:ln w="13970">
            <a:solidFill>
              <a:srgbClr val="161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673352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161B22"/>
                </a:solidFill>
                <a:latin typeface="Segoe UI"/>
              </a:rPr>
              <a:t>host_stars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1911095"/>
            <a:ext cx="173736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565F6E"/>
                </a:solidFill>
                <a:latin typeface="Segoe UI"/>
              </a:rPr>
              <a:t>hostname, ra, dec
parallax, distance
teff, rad, mass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618488"/>
            <a:ext cx="2194560" cy="960120"/>
          </a:xfrm>
          <a:prstGeom prst="roundRect">
            <a:avLst>
              <a:gd name="adj" fmla="val 8000"/>
            </a:avLst>
          </a:prstGeom>
          <a:solidFill>
            <a:srgbClr val="E8E8FB"/>
          </a:solidFill>
          <a:ln w="13970">
            <a:solidFill>
              <a:srgbClr val="4A4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67335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4A4FD6"/>
                </a:solidFill>
                <a:latin typeface="Segoe UI"/>
              </a:rPr>
              <a:t>exoplanet_candidates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1911095"/>
            <a:ext cx="2011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565F6E"/>
                </a:solidFill>
                <a:latin typeface="Segoe UI"/>
              </a:rPr>
              <a:t>toi_id, tic_id, pl_name
disposition, health_grade
orbper, rade, trandep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423160" y="2093976"/>
            <a:ext cx="1993392" cy="0"/>
          </a:xfrm>
          <a:prstGeom prst="line">
            <a:avLst/>
          </a:prstGeom>
          <a:ln w="15240">
            <a:solidFill>
              <a:srgbClr val="161B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834639" y="1874519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565F6E"/>
                </a:solidFill>
                <a:latin typeface="Segoe UI"/>
              </a:rPr>
              <a:t>1 → *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3218688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E3E6EC"/>
          </a:solidFill>
          <a:ln w="1270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3264408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61B22"/>
                </a:solidFill>
                <a:latin typeface="Segoe UI"/>
              </a:rPr>
              <a:t>catalog_sources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3493008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565F6E"/>
                </a:solidFill>
                <a:latin typeface="Segoe UI"/>
              </a:rPr>
              <a:t>name, version
last_sync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315968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E3E6EC"/>
          </a:solidFill>
          <a:ln w="1270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36168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61B22"/>
                </a:solidFill>
                <a:latin typeface="Segoe UI"/>
              </a:rPr>
              <a:t>measurement_history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599431"/>
            <a:ext cx="24688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565F6E"/>
                </a:solidFill>
                <a:latin typeface="Segoe UI"/>
              </a:rPr>
              <a:t>candidate_id, source_id
parameter_name, value
error_upper/lower, measured_at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4315968"/>
            <a:ext cx="1371600" cy="960120"/>
          </a:xfrm>
          <a:prstGeom prst="roundRect">
            <a:avLst>
              <a:gd name="adj" fmla="val 8000"/>
            </a:avLst>
          </a:prstGeom>
          <a:solidFill>
            <a:srgbClr val="E3E6EC"/>
          </a:solidFill>
          <a:ln w="1270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4361688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61B22"/>
                </a:solidFill>
                <a:latin typeface="Segoe UI"/>
              </a:rPr>
              <a:t>agreement_
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818888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565F6E"/>
                </a:solidFill>
                <a:latin typeface="Segoe UI"/>
              </a:rPr>
              <a:t>teff/rad/dist diffs
is_unphysical_rp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4315968"/>
            <a:ext cx="1417320" cy="960120"/>
          </a:xfrm>
          <a:prstGeom prst="roundRect">
            <a:avLst>
              <a:gd name="adj" fmla="val 8000"/>
            </a:avLst>
          </a:prstGeom>
          <a:solidFill>
            <a:srgbClr val="E3E6EC"/>
          </a:solidFill>
          <a:ln w="1270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59" y="4361688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61B22"/>
                </a:solidFill>
                <a:latin typeface="Segoe UI"/>
              </a:rPr>
              <a:t>ml_predictions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59" y="4599431"/>
            <a:ext cx="123444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565F6E"/>
                </a:solidFill>
                <a:latin typeface="Segoe UI"/>
              </a:rPr>
              <a:t>evidence_consistency_score
followup_priority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532120" y="2578608"/>
            <a:ext cx="0" cy="1719072"/>
          </a:xfrm>
          <a:prstGeom prst="line">
            <a:avLst/>
          </a:prstGeom>
          <a:ln w="15240">
            <a:solidFill>
              <a:srgbClr val="161B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623559" y="317296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65F6E"/>
                </a:solidFill>
                <a:latin typeface="Segoe UI"/>
              </a:rPr>
              <a:t>1 → 1 (×2)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154680" y="4727448"/>
            <a:ext cx="1261872" cy="0"/>
          </a:xfrm>
          <a:prstGeom prst="line">
            <a:avLst/>
          </a:prstGeom>
          <a:ln w="12700">
            <a:solidFill>
              <a:srgbClr val="161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2240280" y="3218688"/>
            <a:ext cx="1417320" cy="1280160"/>
          </a:xfrm>
          <a:prstGeom prst="line">
            <a:avLst/>
          </a:prstGeom>
          <a:ln w="11430">
            <a:solidFill>
              <a:srgbClr val="AEB4C2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02920" y="5458968"/>
            <a:ext cx="6949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1">
                <a:solidFill>
                  <a:srgbClr val="565F6E"/>
                </a:solidFill>
                <a:latin typeface="Segoe UI"/>
              </a:rPr>
              <a:t>Every candidate joins one host star, one live agreement-metrics row, one live ml-predictions row, and an append-only measurement history — nothing duplicated per catalog.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26680" y="1572768"/>
            <a:ext cx="3962095" cy="141732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72984" y="1673352"/>
            <a:ext cx="3687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THREE ID SYSTEMS, ONE RECORD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72984" y="1920240"/>
            <a:ext cx="3687775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161B22"/>
                </a:solidFill>
                <a:latin typeface="Segoe UI"/>
              </a:rPr>
              <a:t>TOI numbers, TIC IDs and Gaia source_ids all resolve to the same candidate through a dedicated /resolve lookup.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26680" y="3172968"/>
            <a:ext cx="3962095" cy="141732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72984" y="3273551"/>
            <a:ext cx="3687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UPSERT, NOT APPEND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72984" y="3520439"/>
            <a:ext cx="3687775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161B22"/>
                </a:solidFill>
                <a:latin typeface="Segoe UI"/>
              </a:rPr>
              <a:t>Re-ingesting a known candidate refreshes host_stars, exoplanet_candidates and agreement_metrics in place. Only measurement_history grows, and only on a genuine change.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26680" y="4773168"/>
            <a:ext cx="3962095" cy="141732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72984" y="4873752"/>
            <a:ext cx="36877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SQLITE FOR DEV, POSTGRES FOR PROD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72984" y="5120640"/>
            <a:ext cx="3687775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161B22"/>
                </a:solidFill>
                <a:latin typeface="Segoe UI"/>
              </a:rPr>
              <a:t>Column types are dialect-agnostic so the same schema runs on both; SQLite's single-writer lock is why a concurrent deployment needs DATABASE_URL pointed at Postgres.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4A4FD6"/>
                </a:solidFill>
                <a:latin typeface="Consolas"/>
              </a:rPr>
              <a:t>STAGE 05 ·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7589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 i="0">
                <a:solidFill>
                  <a:srgbClr val="161B22"/>
                </a:solidFill>
                <a:latin typeface="Georgia"/>
              </a:rPr>
              <a:t>Turning catalog disagreement into a number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4437" y="384048"/>
            <a:ext cx="863193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7631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44791" y="384048"/>
            <a:ext cx="779068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3859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1019" y="384048"/>
            <a:ext cx="694944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5963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3124" y="384048"/>
            <a:ext cx="694944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MERGE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8067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5228" y="384048"/>
            <a:ext cx="947318" cy="246888"/>
          </a:xfrm>
          <a:prstGeom prst="roundRect">
            <a:avLst>
              <a:gd name="adj" fmla="val 45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1">
                <a:solidFill>
                  <a:srgbClr val="FFFFFF"/>
                </a:solidFill>
                <a:latin typeface="Consolas"/>
              </a:rP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2546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09706" y="384048"/>
            <a:ext cx="779068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57276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65F6E"/>
                </a:solidFill>
                <a:latin typeface="Segoe UI"/>
              </a:rPr>
              <a:t>For every shared quantity, we keep both catalogs' numbers and compute the gap between them — the gap itself becomes a model input.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029967"/>
            <a:ext cx="5455767" cy="1737360"/>
          </a:xfrm>
          <a:prstGeom prst="roundRect">
            <a:avLst>
              <a:gd name="adj" fmla="val 8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139696"/>
            <a:ext cx="512658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TEMPERATURE MISMATCH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" y="2414015"/>
            <a:ext cx="5126583" cy="1234440"/>
          </a:xfrm>
          <a:prstGeom prst="roundRect">
            <a:avLst>
              <a:gd name="adj" fmla="val 6000"/>
            </a:avLst>
          </a:prstGeom>
          <a:solidFill>
            <a:srgbClr val="ECEEF2"/>
          </a:solidFill>
          <a:ln w="1143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2505456"/>
            <a:ext cx="4852263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61B22"/>
                </a:solidFill>
                <a:latin typeface="Consolas"/>
              </a:rPr>
              <a:t>teff_diff = |st_teff − Teff|</a:t>
            </a:r>
          </a:p>
          <a:p>
            <a:pPr algn="l">
              <a:lnSpc>
                <a:spcPct val="132000"/>
              </a:lnSpc>
            </a:pPr>
            <a:r>
              <a:rPr sz="1150" b="1" i="0">
                <a:solidFill>
                  <a:srgbClr val="4A4FD6"/>
                </a:solidFill>
                <a:latin typeface="Consolas"/>
              </a:rPr>
              <a:t>       = |5600.0 − 5550.0| = 50.0 K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61B22"/>
                </a:solidFill>
                <a:latin typeface="Consolas"/>
              </a:rPr>
              <a:t> 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61B22"/>
                </a:solidFill>
                <a:latin typeface="Consolas"/>
              </a:rPr>
              <a:t>teff_diff_rel = teff_diff / Teff</a:t>
            </a:r>
          </a:p>
          <a:p>
            <a:pPr algn="l">
              <a:lnSpc>
                <a:spcPct val="132000"/>
              </a:lnSpc>
            </a:pPr>
            <a:r>
              <a:rPr sz="1150" b="1" i="0">
                <a:solidFill>
                  <a:srgbClr val="4A4FD6"/>
                </a:solidFill>
                <a:latin typeface="Consolas"/>
              </a:rPr>
              <a:t>       = 50.0 / 5550.0 ≈ 0.9%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2029967"/>
            <a:ext cx="5455767" cy="1737360"/>
          </a:xfrm>
          <a:prstGeom prst="roundRect">
            <a:avLst>
              <a:gd name="adj" fmla="val 8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7599" y="2139696"/>
            <a:ext cx="512658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STELLAR SIZE MISMATCH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97599" y="2414015"/>
            <a:ext cx="5126583" cy="1234440"/>
          </a:xfrm>
          <a:prstGeom prst="roundRect">
            <a:avLst>
              <a:gd name="adj" fmla="val 6000"/>
            </a:avLst>
          </a:prstGeom>
          <a:solidFill>
            <a:srgbClr val="ECEEF2"/>
          </a:solidFill>
          <a:ln w="1143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3903" y="2505456"/>
            <a:ext cx="4852263" cy="1069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61B22"/>
                </a:solidFill>
                <a:latin typeface="Consolas"/>
              </a:rPr>
              <a:t>rad_diff = |st_rad − Rad|</a:t>
            </a:r>
          </a:p>
          <a:p>
            <a:pPr algn="l">
              <a:lnSpc>
                <a:spcPct val="132000"/>
              </a:lnSpc>
            </a:pPr>
            <a:r>
              <a:rPr sz="1150" b="1" i="0">
                <a:solidFill>
                  <a:srgbClr val="4A4FD6"/>
                </a:solidFill>
                <a:latin typeface="Consolas"/>
              </a:rPr>
              <a:t>       = |1.20 − 1.25| = 0.05 R☉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61B22"/>
                </a:solidFill>
                <a:latin typeface="Consolas"/>
              </a:rPr>
              <a:t> 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61B22"/>
                </a:solidFill>
                <a:latin typeface="Consolas"/>
              </a:rPr>
              <a:t>rad_diff_rel = rad_diff / Rad</a:t>
            </a:r>
          </a:p>
          <a:p>
            <a:pPr algn="l">
              <a:lnSpc>
                <a:spcPct val="132000"/>
              </a:lnSpc>
            </a:pPr>
            <a:r>
              <a:rPr sz="1150" b="1" i="0">
                <a:solidFill>
                  <a:srgbClr val="4A4FD6"/>
                </a:solidFill>
                <a:latin typeface="Consolas"/>
              </a:rPr>
              <a:t>       = 0.05 / 1.25 = 4%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950208"/>
            <a:ext cx="11185855" cy="128016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950208"/>
            <a:ext cx="41148" cy="1280160"/>
          </a:xfrm>
          <a:prstGeom prst="rect">
            <a:avLst/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4050792"/>
            <a:ext cx="1085667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THE SAME PATTERN REPEATS FOR DISTANCE, BRIGHTNESS AND RUWE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4297680"/>
            <a:ext cx="10856671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161B22"/>
                </a:solidFill>
                <a:latin typeface="Segoe UI"/>
              </a:rPr>
              <a:t>Every catalog pair that measures the same physical quantity gets both an absolute and a relative disagreement feature — dist_diff, tmag_gmag_diff, and Gaia's RUWE (a value above 1.4 flags a likely unresolved binary star) all feed the models the same way.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4A4FD6"/>
                </a:solidFill>
                <a:latin typeface="Consolas"/>
              </a:rPr>
              <a:t>STAGE 05 ·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7589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 i="0">
                <a:solidFill>
                  <a:srgbClr val="161B22"/>
                </a:solidFill>
                <a:latin typeface="Georgia"/>
              </a:rPr>
              <a:t>Recomputing the planet's size from first principles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4437" y="384048"/>
            <a:ext cx="863193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7631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44791" y="384048"/>
            <a:ext cx="779068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3859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1019" y="384048"/>
            <a:ext cx="694944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5963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3124" y="384048"/>
            <a:ext cx="694944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MERGE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8067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5228" y="384048"/>
            <a:ext cx="947318" cy="246888"/>
          </a:xfrm>
          <a:prstGeom prst="roundRect">
            <a:avLst>
              <a:gd name="adj" fmla="val 45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1">
                <a:solidFill>
                  <a:srgbClr val="FFFFFF"/>
                </a:solidFill>
                <a:latin typeface="Consolas"/>
              </a:rP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2546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09706" y="384048"/>
            <a:ext cx="779068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57276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65F6E"/>
                </a:solidFill>
                <a:latin typeface="Segoe UI"/>
              </a:rPr>
              <a:t>We don't trust the cataloged planet size blindly — we rebuild it from Gaia's star size and TESS's transit depth, then compare it against what was cataloged. Worked example: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2139696"/>
            <a:ext cx="256032" cy="256032"/>
          </a:xfrm>
          <a:prstGeom prst="ellipse">
            <a:avLst/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13969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2103120"/>
            <a:ext cx="66568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161B22"/>
                </a:solidFill>
                <a:latin typeface="Segoe UI"/>
              </a:rPr>
              <a:t>Transit depth to a fraction of starlight blocked — 1600 ppm × 10⁻⁶ = 0.0016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2578608"/>
            <a:ext cx="256032" cy="256032"/>
          </a:xfrm>
          <a:prstGeom prst="ellipse">
            <a:avLst/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578608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2542032"/>
            <a:ext cx="66568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161B22"/>
                </a:solidFill>
                <a:latin typeface="Segoe UI"/>
              </a:rPr>
              <a:t>Square root gives the size ratio — √0.0016 = 0.04 (planet is 4% of the star's radius)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" y="3017520"/>
            <a:ext cx="256032" cy="256032"/>
          </a:xfrm>
          <a:prstGeom prst="ellipse">
            <a:avLst/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01752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2980944"/>
            <a:ext cx="66568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161B22"/>
                </a:solidFill>
                <a:latin typeface="Segoe UI"/>
              </a:rPr>
              <a:t>Scale by Gaia's stellar radius — 1.25 R☉ × 0.04 = 0.05 R☉</a:t>
            </a:r>
          </a:p>
        </p:txBody>
      </p:sp>
      <p:sp>
        <p:nvSpPr>
          <p:cNvPr id="25" name="Oval 24"/>
          <p:cNvSpPr/>
          <p:nvPr/>
        </p:nvSpPr>
        <p:spPr>
          <a:xfrm>
            <a:off x="502920" y="3456432"/>
            <a:ext cx="256032" cy="256032"/>
          </a:xfrm>
          <a:prstGeom prst="ellipse">
            <a:avLst/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45643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3419856"/>
            <a:ext cx="66568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161B22"/>
                </a:solidFill>
                <a:latin typeface="Segoe UI"/>
              </a:rPr>
              <a:t>Convert to Earth radii (1 R☉ = 109.2 R⊕) — 0.05 × 109.2 = 5.46 R⊕</a:t>
            </a:r>
          </a:p>
        </p:txBody>
      </p:sp>
      <p:sp>
        <p:nvSpPr>
          <p:cNvPr id="28" name="Oval 27"/>
          <p:cNvSpPr/>
          <p:nvPr/>
        </p:nvSpPr>
        <p:spPr>
          <a:xfrm>
            <a:off x="502920" y="3895344"/>
            <a:ext cx="256032" cy="256032"/>
          </a:xfrm>
          <a:prstGeom prst="ellipse">
            <a:avLst/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89534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3858768"/>
            <a:ext cx="66568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161B22"/>
                </a:solidFill>
                <a:latin typeface="Segoe UI"/>
              </a:rPr>
              <a:t>Compare to the catalog's 2.40 R⊕ — |5.46 − 2.40| = 3.06, a 127.5% mismatch</a:t>
            </a:r>
          </a:p>
        </p:txBody>
      </p:sp>
      <p:sp>
        <p:nvSpPr>
          <p:cNvPr id="31" name="Oval 30"/>
          <p:cNvSpPr/>
          <p:nvPr/>
        </p:nvSpPr>
        <p:spPr>
          <a:xfrm>
            <a:off x="502920" y="4334256"/>
            <a:ext cx="256032" cy="256032"/>
          </a:xfrm>
          <a:prstGeom prst="ellipse">
            <a:avLst/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33425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" y="4297680"/>
            <a:ext cx="665683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161B22"/>
                </a:solidFill>
                <a:latin typeface="Segoe UI"/>
              </a:rPr>
              <a:t>Physical sanity check — is 5.46 R⊕ above 22 R⊕ (roughly Jupiter's envelope)? No — not flagged unphysical this time, but the same check catches a candidate whose derived size implies a companion star, not a planet.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18120" y="2121408"/>
            <a:ext cx="3870655" cy="237744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18120" y="2121408"/>
            <a:ext cx="41148" cy="2377440"/>
          </a:xfrm>
          <a:prstGeom prst="rect">
            <a:avLst/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9288" y="2221991"/>
            <a:ext cx="354147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WHY THIS MATTERS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9288" y="2468879"/>
            <a:ext cx="3541471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161B22"/>
                </a:solidFill>
                <a:latin typeface="Segoe UI"/>
              </a:rPr>
              <a:t>A catalog's own listed planet radius can be stale or computed against the wrong stellar radius. Recomputing it independently from Gaia is how the pipeline catches a background eclipsing binary that looks fine in TESS's numbers alone but implies an impossible planet once Gaia's star size is used.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4A4FD6"/>
                </a:solidFill>
                <a:latin typeface="Consolas"/>
              </a:rPr>
              <a:t>STAGE 05 ·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7589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 i="0">
                <a:solidFill>
                  <a:srgbClr val="161B22"/>
                </a:solidFill>
                <a:latin typeface="Georgia"/>
              </a:rPr>
              <a:t>Assembling the tabular feature vector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4437" y="384048"/>
            <a:ext cx="863193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7631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44791" y="384048"/>
            <a:ext cx="779068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3859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1019" y="384048"/>
            <a:ext cx="694944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5963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3124" y="384048"/>
            <a:ext cx="694944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MERGE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8067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5228" y="384048"/>
            <a:ext cx="947318" cy="246888"/>
          </a:xfrm>
          <a:prstGeom prst="roundRect">
            <a:avLst>
              <a:gd name="adj" fmla="val 45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1">
                <a:solidFill>
                  <a:srgbClr val="FFFFFF"/>
                </a:solidFill>
                <a:latin typeface="Consolas"/>
              </a:rP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2546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09706" y="384048"/>
            <a:ext cx="779068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MODELS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02920" y="1572768"/>
          <a:ext cx="5888736" cy="4160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"/>
                <a:gridCol w="1691640"/>
                <a:gridCol w="868680"/>
                <a:gridCol w="384048"/>
                <a:gridCol w="1691640"/>
                <a:gridCol w="868680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pl_orbper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3.524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rad_diff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0.05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pl_trandurh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2.50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rad_diff_rel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0.04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pl_trandep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1600.0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dist_diff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0.20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pl_rade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2.40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dist_diff_rel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0.0013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pl_insol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120.5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tmag_gmag_diff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0.08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pl_eqt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750.0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derived_rp_gaia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5.46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st_tmag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10.23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derived_rp_diff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3.06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st_teff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5600.0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derived_rp_diff_rel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1.275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st_rad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1.20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is_unphysical_rp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st_logg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4.40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RUWE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1.05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st_dist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150.3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high_ruwe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teff_diff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50.0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25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completeness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7.0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teff_diff_rel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>0.009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61B22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7955280" y="1572768"/>
            <a:ext cx="3733495" cy="169164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80" y="1572768"/>
            <a:ext cx="41148" cy="1691640"/>
          </a:xfrm>
          <a:prstGeom prst="rect">
            <a:avLst/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1673352"/>
            <a:ext cx="340431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25 NUMBERS, ONE CANDIDATE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1920240"/>
            <a:ext cx="3404311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161B22"/>
                </a:solidFill>
                <a:latin typeface="Segoe UI"/>
              </a:rPr>
              <a:t>Raw catalog values, disagreement features, and the physics check from the previous slide are concatenated into a single row before the Random Forest ever sees the candidate.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3447287"/>
            <a:ext cx="3733495" cy="169164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1584" y="3547871"/>
            <a:ext cx="345917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MISSING ≠ ZERO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4" y="3794759"/>
            <a:ext cx="3459175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161B22"/>
                </a:solidFill>
                <a:latin typeface="Segoe UI"/>
              </a:rPr>
              <a:t>If st_dist wasn't measured, a trained SimpleImputer fills it with the training set's median (≈122.5 pc) — never a fabricated point estimate, and never silently zero.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4A4FD6"/>
                </a:solidFill>
                <a:latin typeface="Consolas"/>
              </a:rPr>
              <a:t>STAGE 05 ·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7589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 i="0">
                <a:solidFill>
                  <a:srgbClr val="161B22"/>
                </a:solidFill>
                <a:latin typeface="Georgia"/>
              </a:rPr>
              <a:t>Shaping data for the deep learning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4437" y="384048"/>
            <a:ext cx="863193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7631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44791" y="384048"/>
            <a:ext cx="779068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3859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1019" y="384048"/>
            <a:ext cx="694944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5963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3124" y="384048"/>
            <a:ext cx="694944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MERGE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8067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5228" y="384048"/>
            <a:ext cx="947318" cy="246888"/>
          </a:xfrm>
          <a:prstGeom prst="roundRect">
            <a:avLst>
              <a:gd name="adj" fmla="val 45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1">
                <a:solidFill>
                  <a:srgbClr val="FFFFFF"/>
                </a:solidFill>
                <a:latin typeface="Consolas"/>
              </a:rP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2546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09706" y="384048"/>
            <a:ext cx="779068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57276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65F6E"/>
                </a:solidFill>
                <a:latin typeface="Segoe UI"/>
              </a:rPr>
              <a:t>The tabular row above is not enough for shape-based reasoning, so the light curve itself is phase-folded and resampled into two fixed-length views, alongside a spatial centroid path.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67128"/>
            <a:ext cx="3576218" cy="169164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2267712"/>
            <a:ext cx="330189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GLOBAL VIEW — 2001 BINS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2514600"/>
            <a:ext cx="330189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161B22"/>
                </a:solidFill>
                <a:latin typeface="Segoe UI"/>
              </a:rPr>
              <a:t>The full orbit stretched or compressed into exactly 2001 points, centered at 0.0. Captures whole-orbit patterns like a second, fainter dip.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7738" y="2167128"/>
            <a:ext cx="3576218" cy="169164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4042" y="2267712"/>
            <a:ext cx="330189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LOCAL VIEW — 201 BINS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4042" y="2514600"/>
            <a:ext cx="330189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161B22"/>
                </a:solidFill>
                <a:latin typeface="Segoe UI"/>
              </a:rPr>
              <a:t>A zoom on just the transit dip. A flat-bottomed "U" reads as a planet; a sharp "V" reads as two stars grazing each other.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2556" y="2167128"/>
            <a:ext cx="3576218" cy="169164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8860" y="2267712"/>
            <a:ext cx="330189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CENTROID PATH — 201×2 + MASK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8860" y="2514600"/>
            <a:ext cx="3301898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161B22"/>
                </a:solidFill>
                <a:latin typeface="Segoe UI"/>
              </a:rPr>
              <a:t>The star's center-of-light offset (Δx, Δy) per cadence, plus an explicit presence-mask channel — so “not measured” is never confused with “measured, zero offset.”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87368"/>
            <a:ext cx="11185855" cy="132588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4187952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METADATA VECTOR — 28 NUMBERS, HALF OF THEM JUST “DID WE MEASURE THIS?”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" y="443484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161B22"/>
                </a:solidFill>
                <a:latin typeface="Segoe UI"/>
              </a:rPr>
              <a:t>18 physical value slots (stellar temperature/radius/distance, catalog disagreements, RUWE, 2MASS j/h/k_mag, Pan-STARRS g/r_mag, metallicity, blending, completeness) are paired with 10 presence bits — one per optional field — so the network can tell “RUWE measured at 1.0” apart from “RUWE never measured, defaulted to 1.0.” A missing 2MASS or Pan-STARRS match never silently looks like a real, unremarkable measurement.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4A4FD6"/>
                </a:solidFill>
                <a:latin typeface="Consolas"/>
              </a:rPr>
              <a:t>STAGE 06 · MODEL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7589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 i="0">
                <a:solidFill>
                  <a:srgbClr val="161B22"/>
                </a:solidFill>
                <a:latin typeface="Georgia"/>
              </a:rPr>
              <a:t>Random Forest: voting on the tabular row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4437" y="384048"/>
            <a:ext cx="863193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7631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44791" y="384048"/>
            <a:ext cx="779068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3859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1019" y="384048"/>
            <a:ext cx="694944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5963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3124" y="384048"/>
            <a:ext cx="694944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MERGE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8067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5228" y="384048"/>
            <a:ext cx="947318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2546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09706" y="384048"/>
            <a:ext cx="779068" cy="246888"/>
          </a:xfrm>
          <a:prstGeom prst="roundRect">
            <a:avLst>
              <a:gd name="adj" fmla="val 45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1">
                <a:solidFill>
                  <a:srgbClr val="FFFFFF"/>
                </a:solidFill>
                <a:latin typeface="Consolas"/>
              </a:rPr>
              <a:t>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618488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1618488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0392" y="1618488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24128" y="1618488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97864" y="1618488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371600" y="1618488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545336" y="1618488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719072" y="1618488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892808" y="1618488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066543" y="1618488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1792224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76656" y="1792224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0392" y="1792224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24128" y="1792224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97864" y="1792224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371600" y="1792224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545336" y="1792224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719072" y="1792224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892808" y="1792224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066543" y="1792224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20" y="1965960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76656" y="1965960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50392" y="1965960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24128" y="1965960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197864" y="1965960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71600" y="1965960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545336" y="1965960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719072" y="1965960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892808" y="1965960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066543" y="1965960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2920" y="2139696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76656" y="2139696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50392" y="2139696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24128" y="2139696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197864" y="2139696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371600" y="2139696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545336" y="2139696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719072" y="2139696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892808" y="2139696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066543" y="2139696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02920" y="2313432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76656" y="2313432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50392" y="2313432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24128" y="2313432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197864" y="2313432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371600" y="2313432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545336" y="2313432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719072" y="2313432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892808" y="2313432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2066543" y="2313432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02920" y="2487168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76656" y="2487168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50392" y="2487168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24128" y="2487168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197864" y="2487168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371600" y="2487168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545336" y="2487168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719072" y="2487168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892808" y="2487168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2066543" y="2487168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02920" y="2660904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76656" y="2660904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50392" y="2660904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024128" y="2660904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197864" y="2660904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1371600" y="2660904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545336" y="2660904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1719072" y="2660904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1892808" y="2660904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2066543" y="2660904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02920" y="2834640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676656" y="2834640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850392" y="2834640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024128" y="2834640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197864" y="2834640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1371600" y="2834640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1545336" y="2834640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719072" y="2834640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892808" y="2834640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2066543" y="2834640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502920" y="3008376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676656" y="3008376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850392" y="3008376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1024128" y="3008376"/>
            <a:ext cx="132588" cy="132588"/>
          </a:xfrm>
          <a:prstGeom prst="roundRect">
            <a:avLst>
              <a:gd name="adj" fmla="val 28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1197864" y="3008376"/>
            <a:ext cx="132588" cy="132588"/>
          </a:xfrm>
          <a:prstGeom prst="roundRect">
            <a:avLst>
              <a:gd name="adj" fmla="val 28000"/>
            </a:avLst>
          </a:prstGeom>
          <a:noFill/>
          <a:ln w="1270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1371600" y="3008376"/>
            <a:ext cx="132588" cy="132588"/>
          </a:xfrm>
          <a:prstGeom prst="roundRect">
            <a:avLst>
              <a:gd name="adj" fmla="val 28000"/>
            </a:avLst>
          </a:prstGeom>
          <a:noFill/>
          <a:ln w="1270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1545336" y="3008376"/>
            <a:ext cx="132588" cy="132588"/>
          </a:xfrm>
          <a:prstGeom prst="roundRect">
            <a:avLst>
              <a:gd name="adj" fmla="val 28000"/>
            </a:avLst>
          </a:prstGeom>
          <a:noFill/>
          <a:ln w="1270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1719072" y="3008376"/>
            <a:ext cx="132588" cy="132588"/>
          </a:xfrm>
          <a:prstGeom prst="roundRect">
            <a:avLst>
              <a:gd name="adj" fmla="val 28000"/>
            </a:avLst>
          </a:prstGeom>
          <a:noFill/>
          <a:ln w="1270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1892808" y="3008376"/>
            <a:ext cx="132588" cy="132588"/>
          </a:xfrm>
          <a:prstGeom prst="roundRect">
            <a:avLst>
              <a:gd name="adj" fmla="val 28000"/>
            </a:avLst>
          </a:prstGeom>
          <a:noFill/>
          <a:ln w="1270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2066543" y="3008376"/>
            <a:ext cx="132588" cy="132588"/>
          </a:xfrm>
          <a:prstGeom prst="roundRect">
            <a:avLst>
              <a:gd name="adj" fmla="val 28000"/>
            </a:avLst>
          </a:prstGeom>
          <a:noFill/>
          <a:ln w="1270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502920" y="3182112"/>
            <a:ext cx="132588" cy="132588"/>
          </a:xfrm>
          <a:prstGeom prst="roundRect">
            <a:avLst>
              <a:gd name="adj" fmla="val 28000"/>
            </a:avLst>
          </a:prstGeom>
          <a:noFill/>
          <a:ln w="1270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676656" y="3182112"/>
            <a:ext cx="132588" cy="132588"/>
          </a:xfrm>
          <a:prstGeom prst="roundRect">
            <a:avLst>
              <a:gd name="adj" fmla="val 28000"/>
            </a:avLst>
          </a:prstGeom>
          <a:noFill/>
          <a:ln w="1270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850392" y="3182112"/>
            <a:ext cx="132588" cy="132588"/>
          </a:xfrm>
          <a:prstGeom prst="roundRect">
            <a:avLst>
              <a:gd name="adj" fmla="val 28000"/>
            </a:avLst>
          </a:prstGeom>
          <a:noFill/>
          <a:ln w="1270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1024128" y="3182112"/>
            <a:ext cx="132588" cy="132588"/>
          </a:xfrm>
          <a:prstGeom prst="roundRect">
            <a:avLst>
              <a:gd name="adj" fmla="val 28000"/>
            </a:avLst>
          </a:prstGeom>
          <a:noFill/>
          <a:ln w="1270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1197864" y="3182112"/>
            <a:ext cx="132588" cy="132588"/>
          </a:xfrm>
          <a:prstGeom prst="roundRect">
            <a:avLst>
              <a:gd name="adj" fmla="val 28000"/>
            </a:avLst>
          </a:prstGeom>
          <a:noFill/>
          <a:ln w="1270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1371600" y="3182112"/>
            <a:ext cx="132588" cy="132588"/>
          </a:xfrm>
          <a:prstGeom prst="roundRect">
            <a:avLst>
              <a:gd name="adj" fmla="val 28000"/>
            </a:avLst>
          </a:prstGeom>
          <a:noFill/>
          <a:ln w="1270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1545336" y="3182112"/>
            <a:ext cx="132588" cy="132588"/>
          </a:xfrm>
          <a:prstGeom prst="roundRect">
            <a:avLst>
              <a:gd name="adj" fmla="val 28000"/>
            </a:avLst>
          </a:prstGeom>
          <a:noFill/>
          <a:ln w="1270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1719072" y="3182112"/>
            <a:ext cx="132588" cy="132588"/>
          </a:xfrm>
          <a:prstGeom prst="roundRect">
            <a:avLst>
              <a:gd name="adj" fmla="val 28000"/>
            </a:avLst>
          </a:prstGeom>
          <a:noFill/>
          <a:ln w="1270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1892808" y="3182112"/>
            <a:ext cx="132588" cy="132588"/>
          </a:xfrm>
          <a:prstGeom prst="roundRect">
            <a:avLst>
              <a:gd name="adj" fmla="val 28000"/>
            </a:avLst>
          </a:prstGeom>
          <a:noFill/>
          <a:ln w="1270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2066543" y="3182112"/>
            <a:ext cx="132588" cy="132588"/>
          </a:xfrm>
          <a:prstGeom prst="roundRect">
            <a:avLst>
              <a:gd name="adj" fmla="val 28000"/>
            </a:avLst>
          </a:prstGeom>
          <a:noFill/>
          <a:ln w="1270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02920" y="3406140"/>
            <a:ext cx="16962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1">
                <a:solidFill>
                  <a:srgbClr val="565F6E"/>
                </a:solidFill>
                <a:latin typeface="Segoe UI"/>
              </a:rPr>
              <a:t>84 of 100 trees vote “confirmed planet” → 84% confirmation probability.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656332" y="1618488"/>
            <a:ext cx="9032443" cy="1051560"/>
          </a:xfrm>
          <a:prstGeom prst="roundRect">
            <a:avLst>
              <a:gd name="adj" fmla="val 6000"/>
            </a:avLst>
          </a:prstGeom>
          <a:solidFill>
            <a:srgbClr val="ECEEF2"/>
          </a:solidFill>
          <a:ln w="1143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802636" y="1709928"/>
            <a:ext cx="8758123" cy="8869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61B22"/>
                </a:solidFill>
                <a:latin typeface="Consolas"/>
              </a:rPr>
              <a:t>Tree 1: derived_rp_diff_rel &gt; 0.5? yes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61B22"/>
                </a:solidFill>
                <a:latin typeface="Consolas"/>
              </a:rPr>
              <a:t>  → RUWE &gt; 1.4? no → votes False Positive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61B22"/>
                </a:solidFill>
                <a:latin typeface="Consolas"/>
              </a:rPr>
              <a:t>Tree 2: is_unphysical_rp==1? no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61B22"/>
                </a:solidFill>
                <a:latin typeface="Consolas"/>
              </a:rPr>
              <a:t>  → teff_diff &gt; 400? no → votes Confirmed Planet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2656332" y="2852928"/>
            <a:ext cx="9032443" cy="233172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802636" y="2953512"/>
            <a:ext cx="875812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FOLLOW-UP PRIORITY SCORE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802636" y="3200400"/>
            <a:ext cx="8758123" cy="1874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161B22"/>
                </a:solidFill>
                <a:latin typeface="Segoe UI"/>
              </a:rPr>
              <a:t>The same probability is scaled down for faint or wobbly stars, so a 90%-confident candidate around a telescope-unfriendly star doesn't outrank an 80%-confident one that's actually easy to observe.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802636" y="3767328"/>
            <a:ext cx="8739835" cy="1325880"/>
          </a:xfrm>
          <a:prstGeom prst="roundRect">
            <a:avLst>
              <a:gd name="adj" fmla="val 6000"/>
            </a:avLst>
          </a:prstGeom>
          <a:solidFill>
            <a:srgbClr val="ECEEF2"/>
          </a:solidFill>
          <a:ln w="1143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948940" y="3858768"/>
            <a:ext cx="8465515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61B22"/>
                </a:solidFill>
                <a:latin typeface="Consolas"/>
              </a:rPr>
              <a:t>brightness_factor = (20.0−10.23)/12.0</a:t>
            </a:r>
          </a:p>
          <a:p>
            <a:pPr algn="l">
              <a:lnSpc>
                <a:spcPct val="132000"/>
              </a:lnSpc>
            </a:pPr>
            <a:r>
              <a:rPr sz="1150" b="1" i="0">
                <a:solidFill>
                  <a:srgbClr val="4A4FD6"/>
                </a:solidFill>
                <a:latin typeface="Consolas"/>
              </a:rPr>
              <a:t>       ≈ 0.814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61B22"/>
                </a:solidFill>
                <a:latin typeface="Consolas"/>
              </a:rPr>
              <a:t>wobble_factor = 1.0  (RUWE ≤ 1.4)</a:t>
            </a:r>
          </a:p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161B22"/>
                </a:solidFill>
                <a:latin typeface="Consolas"/>
              </a:rPr>
              <a:t>priority = 0.84 × 0.814 × 1.0</a:t>
            </a:r>
          </a:p>
          <a:p>
            <a:pPr algn="l">
              <a:lnSpc>
                <a:spcPct val="132000"/>
              </a:lnSpc>
            </a:pPr>
            <a:r>
              <a:rPr sz="1150" b="1" i="0">
                <a:solidFill>
                  <a:srgbClr val="4A4FD6"/>
                </a:solidFill>
                <a:latin typeface="Consolas"/>
              </a:rPr>
              <a:t>       ≈ 0.684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4A4FD6"/>
                </a:solidFill>
                <a:latin typeface="Consolas"/>
              </a:rPr>
              <a:t>STAGE 06 · MODEL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7589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 i="0">
                <a:solidFill>
                  <a:srgbClr val="161B22"/>
                </a:solidFill>
                <a:latin typeface="Georgia"/>
              </a:rPr>
              <a:t>DeepExoFusionNet: reading the shape of the dip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4437" y="384048"/>
            <a:ext cx="863193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7631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44791" y="384048"/>
            <a:ext cx="779068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23859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1019" y="384048"/>
            <a:ext cx="694944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5963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3124" y="384048"/>
            <a:ext cx="694944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MERGE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8067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25228" y="384048"/>
            <a:ext cx="947318" cy="246888"/>
          </a:xfrm>
          <a:prstGeom prst="roundRect">
            <a:avLst>
              <a:gd name="adj" fmla="val 45000"/>
            </a:avLst>
          </a:prstGeom>
          <a:noFill/>
          <a:ln w="1143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0">
                <a:solidFill>
                  <a:srgbClr val="565F6E"/>
                </a:solidFill>
                <a:latin typeface="Consolas"/>
              </a:rP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2546" y="365759"/>
            <a:ext cx="13716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AEB4C2"/>
                </a:solidFill>
                <a:latin typeface="Sego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09706" y="384048"/>
            <a:ext cx="779068" cy="246888"/>
          </a:xfrm>
          <a:prstGeom prst="roundRect">
            <a:avLst>
              <a:gd name="adj" fmla="val 45000"/>
            </a:avLst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750" b="1">
                <a:solidFill>
                  <a:srgbClr val="FFFFFF"/>
                </a:solidFill>
                <a:latin typeface="Consolas"/>
              </a:rPr>
              <a:t>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847088"/>
            <a:ext cx="2148840" cy="457200"/>
          </a:xfrm>
          <a:prstGeom prst="roundRect">
            <a:avLst>
              <a:gd name="adj" fmla="val 10000"/>
            </a:avLst>
          </a:prstGeom>
          <a:noFill/>
          <a:ln w="13970">
            <a:solidFill>
              <a:srgbClr val="161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1847088"/>
            <a:ext cx="20025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161B22"/>
                </a:solidFill>
                <a:latin typeface="Segoe UI"/>
              </a:rPr>
              <a:t>Global curve (2001) → CNN → 256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432304"/>
            <a:ext cx="2148840" cy="457200"/>
          </a:xfrm>
          <a:prstGeom prst="roundRect">
            <a:avLst>
              <a:gd name="adj" fmla="val 10000"/>
            </a:avLst>
          </a:prstGeom>
          <a:noFill/>
          <a:ln w="13970">
            <a:solidFill>
              <a:srgbClr val="161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2432304"/>
            <a:ext cx="20025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161B22"/>
                </a:solidFill>
                <a:latin typeface="Segoe UI"/>
              </a:rPr>
              <a:t>Local curve (201) → CNN → 128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17520"/>
            <a:ext cx="2148840" cy="457200"/>
          </a:xfrm>
          <a:prstGeom prst="roundRect">
            <a:avLst>
              <a:gd name="adj" fmla="val 10000"/>
            </a:avLst>
          </a:prstGeom>
          <a:noFill/>
          <a:ln w="13970">
            <a:solidFill>
              <a:srgbClr val="161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017520"/>
            <a:ext cx="20025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161B22"/>
                </a:solidFill>
                <a:latin typeface="Segoe UI"/>
              </a:rPr>
              <a:t>Centroid path (201×3ch) → CNN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02736"/>
            <a:ext cx="2148840" cy="457200"/>
          </a:xfrm>
          <a:prstGeom prst="roundRect">
            <a:avLst>
              <a:gd name="adj" fmla="val 10000"/>
            </a:avLst>
          </a:prstGeom>
          <a:noFill/>
          <a:ln w="13970">
            <a:solidFill>
              <a:srgbClr val="161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3602736"/>
            <a:ext cx="20025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161B22"/>
                </a:solidFill>
                <a:latin typeface="Segoe UI"/>
              </a:rPr>
              <a:t>Metadata (28) → MLP → 64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51760" y="2075688"/>
            <a:ext cx="502920" cy="1005840"/>
          </a:xfrm>
          <a:prstGeom prst="line">
            <a:avLst/>
          </a:prstGeom>
          <a:ln w="12700">
            <a:solidFill>
              <a:srgbClr val="161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651760" y="2660904"/>
            <a:ext cx="502920" cy="420624"/>
          </a:xfrm>
          <a:prstGeom prst="line">
            <a:avLst/>
          </a:prstGeom>
          <a:ln w="12700">
            <a:solidFill>
              <a:srgbClr val="161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651760" y="3081528"/>
            <a:ext cx="502920" cy="164592"/>
          </a:xfrm>
          <a:prstGeom prst="line">
            <a:avLst/>
          </a:prstGeom>
          <a:ln w="12700">
            <a:solidFill>
              <a:srgbClr val="161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651760" y="3081528"/>
            <a:ext cx="502920" cy="749808"/>
          </a:xfrm>
          <a:prstGeom prst="line">
            <a:avLst/>
          </a:prstGeom>
          <a:ln w="12700">
            <a:solidFill>
              <a:srgbClr val="161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154680" y="2761488"/>
            <a:ext cx="1371600" cy="640080"/>
          </a:xfrm>
          <a:prstGeom prst="roundRect">
            <a:avLst>
              <a:gd name="adj" fmla="val 12000"/>
            </a:avLst>
          </a:prstGeom>
          <a:solidFill>
            <a:srgbClr val="E8E8FB"/>
          </a:solidFill>
          <a:ln w="15240">
            <a:solidFill>
              <a:srgbClr val="4A4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54680" y="2761488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1" i="0">
                <a:solidFill>
                  <a:srgbClr val="4A4FD6"/>
                </a:solidFill>
                <a:latin typeface="Segoe UI"/>
              </a:rPr>
              <a:t>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307238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65F6E"/>
                </a:solidFill>
                <a:latin typeface="Segoe UI"/>
              </a:rPr>
              <a:t>concatenate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26280" y="3081528"/>
            <a:ext cx="320040" cy="0"/>
          </a:xfrm>
          <a:prstGeom prst="line">
            <a:avLst/>
          </a:prstGeom>
          <a:ln w="15240">
            <a:solidFill>
              <a:srgbClr val="161B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846320" y="2761488"/>
            <a:ext cx="960120" cy="640080"/>
          </a:xfrm>
          <a:prstGeom prst="roundRect">
            <a:avLst>
              <a:gd name="adj" fmla="val 10000"/>
            </a:avLst>
          </a:prstGeom>
          <a:noFill/>
          <a:ln w="13970">
            <a:solidFill>
              <a:srgbClr val="161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2761488"/>
            <a:ext cx="960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161B22"/>
                </a:solidFill>
                <a:latin typeface="Segoe UI"/>
              </a:rPr>
              <a:t>DENSE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06440" y="3081528"/>
            <a:ext cx="320039" cy="0"/>
          </a:xfrm>
          <a:prstGeom prst="line">
            <a:avLst/>
          </a:prstGeom>
          <a:ln w="15240">
            <a:solidFill>
              <a:srgbClr val="161B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126479" y="2761488"/>
            <a:ext cx="1051560" cy="640080"/>
          </a:xfrm>
          <a:prstGeom prst="roundRect">
            <a:avLst>
              <a:gd name="adj" fmla="val 10000"/>
            </a:avLst>
          </a:prstGeom>
          <a:noFill/>
          <a:ln w="13970">
            <a:solidFill>
              <a:srgbClr val="161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79" y="2761488"/>
            <a:ext cx="10515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161B22"/>
                </a:solidFill>
                <a:latin typeface="Segoe UI"/>
              </a:rPr>
              <a:t>SOFTMAX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178040" y="3081528"/>
            <a:ext cx="320039" cy="0"/>
          </a:xfrm>
          <a:prstGeom prst="line">
            <a:avLst/>
          </a:prstGeom>
          <a:ln w="15240">
            <a:solidFill>
              <a:srgbClr val="161B2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498079" y="2441448"/>
            <a:ext cx="4190695" cy="1371600"/>
          </a:xfrm>
          <a:prstGeom prst="roundRect">
            <a:avLst>
              <a:gd name="adj" fmla="val 8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6096" y="2514600"/>
            <a:ext cx="393466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161B22"/>
                </a:solidFill>
                <a:latin typeface="Segoe UI"/>
              </a:rPr>
              <a:t>Class probabilities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6096" y="2779776"/>
            <a:ext cx="393466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565F6E"/>
                </a:solidFill>
                <a:latin typeface="Segoe UI"/>
              </a:rPr>
              <a:t>Planet Transit — 92%
Eclipsing Binary — 4%
Stellar Activity — 2%
Instrumental Noise — 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6096" y="3657600"/>
            <a:ext cx="393466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1">
                <a:solidFill>
                  <a:srgbClr val="565F6E"/>
                </a:solidFill>
                <a:latin typeface="Segoe UI"/>
              </a:rPr>
              <a:t>(illustrative output shape)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32511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1">
                <a:solidFill>
                  <a:srgbClr val="565F6E"/>
                </a:solidFill>
                <a:latin typeface="Segoe UI"/>
              </a:rPr>
              <a:t>Four branches feed one fusion layer. The live checkpoint has 3,863,844 real parameters and is verified to load as model_status: “trained”.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782312"/>
            <a:ext cx="11185855" cy="96012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4782312"/>
            <a:ext cx="41148" cy="960120"/>
          </a:xfrm>
          <a:prstGeom prst="rect">
            <a:avLst/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" y="4882896"/>
            <a:ext cx="1085667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HONESTY IS A FIRST-CLASS OUTPUT, NOT AN AFTERTHOUGHT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" y="5129784"/>
            <a:ext cx="1085667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161B22"/>
                </a:solidFill>
                <a:latin typeface="Segoe UI"/>
              </a:rPr>
              <a:t>Every prediction ships with model_status, degraded, and centroid_available flags. If the checkpoint's architecture doesn't match what's being loaded, the API says so loudly instead of falling back to random weights silently — this exact failure mode happened once and is now a regression test.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4A4FD6"/>
                </a:solidFill>
                <a:latin typeface="Consolas"/>
              </a:rPr>
              <a:t>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7589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 i="0">
                <a:solidFill>
                  <a:srgbClr val="161B22"/>
                </a:solidFill>
                <a:latin typeface="Georgia"/>
              </a:rPr>
              <a:t>From features to a letter grade a human can act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72768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65F6E"/>
                </a:solidFill>
                <a:latin typeface="Segoe UI"/>
              </a:rPr>
              <a:t>A rule engine turns the same disagreement features into a transparent, auditable score — no black box, every deduction traceable to one physical check. Worked example, candidate “TOI-9999.01”: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67128"/>
            <a:ext cx="960120" cy="2103120"/>
          </a:xfrm>
          <a:prstGeom prst="rect">
            <a:avLst/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11095"/>
            <a:ext cx="960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61B22"/>
                </a:solidFill>
                <a:latin typeface="Segoe UI"/>
              </a:rPr>
              <a:t>100.0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25112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565F6E"/>
                </a:solidFill>
                <a:latin typeface="Segoe UI"/>
              </a:rPr>
              <a:t>start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2578608"/>
            <a:ext cx="960120" cy="1691640"/>
          </a:xfrm>
          <a:prstGeom prst="rect">
            <a:avLst/>
          </a:prstGeom>
          <a:solidFill>
            <a:srgbClr val="E3E6EC"/>
          </a:solidFill>
          <a:ln w="1016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2322576"/>
            <a:ext cx="960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61B22"/>
                </a:solidFill>
                <a:latin typeface="Segoe UI"/>
              </a:rPr>
              <a:t>88.0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325112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565F6E"/>
                </a:solidFill>
                <a:latin typeface="Segoe UI"/>
              </a:rPr>
              <a:t>−12.0 temp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63040" y="2167128"/>
            <a:ext cx="502920" cy="411480"/>
          </a:xfrm>
          <a:prstGeom prst="line">
            <a:avLst/>
          </a:prstGeom>
          <a:ln w="10160">
            <a:solidFill>
              <a:srgbClr val="AEB4C2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429000" y="2788920"/>
            <a:ext cx="960120" cy="1481328"/>
          </a:xfrm>
          <a:prstGeom prst="rect">
            <a:avLst/>
          </a:prstGeom>
          <a:solidFill>
            <a:srgbClr val="E3E6EC"/>
          </a:solidFill>
          <a:ln w="1016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532887"/>
            <a:ext cx="960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61B22"/>
                </a:solidFill>
                <a:latin typeface="Segoe UI"/>
              </a:rPr>
              <a:t>85.0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325112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565F6E"/>
                </a:solidFill>
                <a:latin typeface="Segoe UI"/>
              </a:rPr>
              <a:t>−3.0 size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26080" y="2578608"/>
            <a:ext cx="502920" cy="210312"/>
          </a:xfrm>
          <a:prstGeom prst="line">
            <a:avLst/>
          </a:prstGeom>
          <a:ln w="10160">
            <a:solidFill>
              <a:srgbClr val="AEB4C2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892040" y="3191256"/>
            <a:ext cx="960120" cy="1078992"/>
          </a:xfrm>
          <a:prstGeom prst="rect">
            <a:avLst/>
          </a:prstGeom>
          <a:solidFill>
            <a:srgbClr val="E3E6EC"/>
          </a:solidFill>
          <a:ln w="10160">
            <a:solidFill>
              <a:srgbClr val="AEB4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2935224"/>
            <a:ext cx="960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61B22"/>
                </a:solidFill>
                <a:latin typeface="Segoe UI"/>
              </a:rPr>
              <a:t>76.5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325112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565F6E"/>
                </a:solidFill>
                <a:latin typeface="Segoe UI"/>
              </a:rPr>
              <a:t>−8.5 dist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389120" y="2788920"/>
            <a:ext cx="502920" cy="402336"/>
          </a:xfrm>
          <a:prstGeom prst="line">
            <a:avLst/>
          </a:prstGeom>
          <a:ln w="10160">
            <a:solidFill>
              <a:srgbClr val="AEB4C2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355080" y="3831335"/>
            <a:ext cx="960120" cy="438912"/>
          </a:xfrm>
          <a:prstGeom prst="rect">
            <a:avLst/>
          </a:prstGeom>
          <a:solidFill>
            <a:srgbClr val="B83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575303"/>
            <a:ext cx="960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61B22"/>
                </a:solidFill>
                <a:latin typeface="Segoe UI"/>
              </a:rPr>
              <a:t>61.5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325112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565F6E"/>
                </a:solidFill>
                <a:latin typeface="Segoe UI"/>
              </a:rPr>
              <a:t>−15.0 RUWE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52160" y="3191256"/>
            <a:ext cx="502920" cy="640079"/>
          </a:xfrm>
          <a:prstGeom prst="line">
            <a:avLst/>
          </a:prstGeom>
          <a:ln w="10160">
            <a:solidFill>
              <a:srgbClr val="AEB4C2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955280" y="3447288"/>
            <a:ext cx="1371600" cy="685800"/>
          </a:xfrm>
          <a:prstGeom prst="roundRect">
            <a:avLst>
              <a:gd name="adj" fmla="val 12000"/>
            </a:avLst>
          </a:prstGeom>
          <a:solidFill>
            <a:srgbClr val="FBE2E7"/>
          </a:solidFill>
          <a:ln w="13970">
            <a:solidFill>
              <a:srgbClr val="B83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0" y="352044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B8324A"/>
                </a:solidFill>
                <a:latin typeface="Segoe UI"/>
              </a:rPr>
              <a:t>GRADE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38130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 i="0">
                <a:solidFill>
                  <a:srgbClr val="565F6E"/>
                </a:solidFill>
                <a:latin typeface="Segoe UI"/>
              </a:rPr>
              <a:t>3 active alerts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681728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1">
                <a:solidFill>
                  <a:srgbClr val="565F6E"/>
                </a:solidFill>
                <a:latin typeface="Segoe UI"/>
              </a:rPr>
              <a:t>High RUWE (1.55, a likely unresolved binary) is the single largest deduction — the same signal that also drives the Random Forest's False Positive votes.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184648"/>
            <a:ext cx="2702052" cy="246888"/>
          </a:xfrm>
          <a:prstGeom prst="roundRect">
            <a:avLst>
              <a:gd name="adj" fmla="val 50000"/>
            </a:avLst>
          </a:prstGeom>
          <a:solidFill>
            <a:srgbClr val="F7E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900" b="1">
                <a:solidFill>
                  <a:srgbClr val="A8660C"/>
                </a:solidFill>
                <a:latin typeface="Consolas"/>
              </a:rPr>
              <a:t>ALERT_HIGH_RUWE — severity HIGH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7852" y="5184648"/>
            <a:ext cx="2935224" cy="246888"/>
          </a:xfrm>
          <a:prstGeom prst="roundRect">
            <a:avLst>
              <a:gd name="adj" fmla="val 50000"/>
            </a:avLst>
          </a:prstGeom>
          <a:solidFill>
            <a:srgbClr val="F7E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900" b="1">
                <a:solidFill>
                  <a:srgbClr val="A8660C"/>
                </a:solidFill>
                <a:latin typeface="Consolas"/>
              </a:rPr>
              <a:t>ALERT_RAD_MISMATCH — severity HIGH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05956" y="5184648"/>
            <a:ext cx="3168396" cy="246888"/>
          </a:xfrm>
          <a:prstGeom prst="roundRect">
            <a:avLst>
              <a:gd name="adj" fmla="val 50000"/>
            </a:avLst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wrap="none"/>
          <a:lstStyle/>
          <a:p>
            <a:pPr algn="ctr"/>
            <a:r>
              <a:rPr sz="900" b="1">
                <a:solidFill>
                  <a:srgbClr val="565F6E"/>
                </a:solidFill>
                <a:latin typeface="Consolas"/>
              </a:rPr>
              <a:t>ALERT_DIST_MISMATCH — severity MEDIUM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4A4FD6"/>
                </a:solidFill>
                <a:latin typeface="Consolas"/>
              </a:rPr>
              <a:t>WHY THIS IS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7589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 i="0">
                <a:solidFill>
                  <a:srgbClr val="161B22"/>
                </a:solidFill>
                <a:latin typeface="Georgia"/>
              </a:rPr>
              <a:t>What the fusion approach actually buys, in real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72768"/>
            <a:ext cx="5455767" cy="155448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72768"/>
            <a:ext cx="41148" cy="1554480"/>
          </a:xfrm>
          <a:prstGeom prst="rect">
            <a:avLst/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673352"/>
            <a:ext cx="512658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CATCHES WHAT ONE CATALOG ALONE MISSES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920240"/>
            <a:ext cx="512658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161B22"/>
                </a:solidFill>
                <a:latin typeface="Segoe UI"/>
              </a:rPr>
              <a:t>The radius-derivation check (slide 9) exists specifically to catch candidates whose TESS-listed size looks fine but implies a companion star once independently rebuilt from Gaia — a class of false positive a single-catalog pipeline structurally cannot see.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572768"/>
            <a:ext cx="5455767" cy="155448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33007" y="1572768"/>
            <a:ext cx="41148" cy="1554480"/>
          </a:xfrm>
          <a:prstGeom prst="rect">
            <a:avLst/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4175" y="1673352"/>
            <a:ext cx="512658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EVERY CLAIM COMES WITH ITS OWN ERROR BAR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4175" y="1920240"/>
            <a:ext cx="512658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161B22"/>
                </a:solidFill>
                <a:latin typeface="Segoe UI"/>
              </a:rPr>
              <a:t>The Random Forest's calibration is measured, not assumed — Brier score 0.1127 on 534 held-out candidates, well-calibrated at the extremes, disclosed as overconfident in the 20–40% range rather than left unexamined.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64408"/>
            <a:ext cx="5455767" cy="155448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264408"/>
            <a:ext cx="41148" cy="1554480"/>
          </a:xfrm>
          <a:prstGeom prst="rect">
            <a:avLst/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364992"/>
            <a:ext cx="512658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FOUND A REAL, UNEXPECTED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611880"/>
            <a:ext cx="512658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161B22"/>
                </a:solidFill>
                <a:latin typeface="Segoe UI"/>
              </a:rPr>
              <a:t>The real MAST centroid pipeline measured a genuine 5.43σ in-transit/out-of-transit position shift for TOI-104.01 — a real background-binary signature worth a human look, not a demo artifact.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3264408"/>
            <a:ext cx="5455767" cy="155448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007" y="3264408"/>
            <a:ext cx="41148" cy="1554480"/>
          </a:xfrm>
          <a:prstGeom prst="rect">
            <a:avLst/>
          </a:prstGeom>
          <a:solidFill>
            <a:srgbClr val="4A4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4175" y="3364992"/>
            <a:ext cx="512658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MEETS OBSERVERS WHERE THEY ALREADY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4175" y="3611880"/>
            <a:ext cx="5126583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161B22"/>
                </a:solidFill>
                <a:latin typeface="Segoe UI"/>
              </a:rPr>
              <a:t>Structured VOTable/CSV/JSON export and a TOI/TIC/Gaia-ID resolver exist specifically because astronomers already live in ExoFOP and MAST — the goal is a data source they can pull from, not one more dashboard to log into.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93208"/>
            <a:ext cx="11185855" cy="96012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5193792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SCALE, HONESTLY STATED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" y="5440680"/>
            <a:ext cx="1091153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161B22"/>
                </a:solidFill>
                <a:latin typeface="Segoe UI"/>
              </a:rPr>
              <a:t>The Random Forest is trained and evaluated on 2,667 candidates; a held-out test against 103 radial-velocity-confirmed planets — entirely independent of TESS/Gaia vetting — recovers 93.2% of them on data the model never trained 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4A4FD6"/>
                </a:solidFill>
                <a:latin typeface="Consolas"/>
              </a:rPr>
              <a:t>HONEST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7589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 i="0">
                <a:solidFill>
                  <a:srgbClr val="161B22"/>
                </a:solidFill>
                <a:latin typeface="Georgia"/>
              </a:rPr>
              <a:t>What this pipeline still cannot claim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72768"/>
            <a:ext cx="3576218" cy="214884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1673352"/>
            <a:ext cx="330189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POSSIBLE LABEL LEAKAGE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" y="1920240"/>
            <a:ext cx="3301898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161B22"/>
                </a:solidFill>
                <a:latin typeface="Segoe UI"/>
              </a:rPr>
              <a:t>Ground-truth labels were assigned by humans who already used Gaia RUWE/distance. Two ablations (a pre/post-EDR3 split; the 103-candidate RV holdout) neither confirm nor rule this 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7738" y="1572768"/>
            <a:ext cx="3576218" cy="214884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54042" y="1673352"/>
            <a:ext cx="330189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DEEP MODEL IS SYNTHETIC-TRAINED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4042" y="1920240"/>
            <a:ext cx="3301898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161B22"/>
                </a:solidFill>
                <a:latin typeface="Segoe UI"/>
              </a:rPr>
              <a:t>Every training light curve and centroid path is simulated — no real TESS light curve has trained the network yet. Treat its class probabilities as an architecture demo, not a validated classifier.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2556" y="1572768"/>
            <a:ext cx="3576218" cy="214884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8860" y="1673352"/>
            <a:ext cx="330189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TRANSIT DENSITY ASSUMES B =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8860" y="1920240"/>
            <a:ext cx="3301898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161B22"/>
                </a:solidFill>
                <a:latin typeface="Segoe UI"/>
              </a:rPr>
              <a:t>Stellar density derived from transit timing assumes a perfectly central transit. Validated against TRAPPIST-1b: reads ≈24% low against its real density.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04487"/>
            <a:ext cx="3576218" cy="214884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4005072"/>
            <a:ext cx="330189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RF STILL MEDIAN-IMPUTES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4251959"/>
            <a:ext cx="3301898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161B22"/>
                </a:solidFill>
                <a:latin typeface="Segoe UI"/>
              </a:rPr>
              <a:t>Missing stellar values are filled with the training median, which can create artificial clusters. The deep model's presence-bit fix hasn't been ported to the Random Forest yet.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7738" y="3904487"/>
            <a:ext cx="3576218" cy="214884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4042" y="4005072"/>
            <a:ext cx="330189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REAL CENTROID &amp; SPECTROSCOPY ARE SUBSET-ONLY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4042" y="4251959"/>
            <a:ext cx="3301898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161B22"/>
                </a:solidFill>
                <a:latin typeface="Segoe UI"/>
              </a:rPr>
              <a:t>Both pipelines are genuine, network-verified measurements — but only run against 5 and 25 candidates respectively, not the full live catalog.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2556" y="3904487"/>
            <a:ext cx="3576218" cy="2148840"/>
          </a:xfrm>
          <a:prstGeom prst="roundRect">
            <a:avLst>
              <a:gd name="adj" fmla="val 9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8860" y="4005072"/>
            <a:ext cx="330189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565F6E"/>
                </a:solidFill>
                <a:latin typeface="Segoe UI"/>
              </a:rPr>
              <a:t>STILL A STANDALONE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8860" y="4251959"/>
            <a:ext cx="3301898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161B22"/>
                </a:solidFill>
                <a:latin typeface="Segoe UI"/>
              </a:rPr>
              <a:t>Structured export is a mitigation, not a fix — observers who never leave ExoFOP/MAST won't encounter this pipeline's output unless someone integrates it for them.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4A4FD6"/>
                </a:solidFill>
                <a:latin typeface="Consolas"/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75895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0" i="0">
                <a:solidFill>
                  <a:srgbClr val="161B22"/>
                </a:solidFill>
                <a:latin typeface="Georgia"/>
              </a:rPr>
              <a:t>Live today, and what's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72768"/>
            <a:ext cx="5455767" cy="2926080"/>
          </a:xfrm>
          <a:prstGeom prst="roundRect">
            <a:avLst>
              <a:gd name="adj" fmla="val 8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19072"/>
            <a:ext cx="50900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565F6E"/>
                </a:solidFill>
                <a:latin typeface="Segoe UI"/>
              </a:rPr>
              <a:t>LIVE AND VERIFIED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75688"/>
            <a:ext cx="5090007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565F6E"/>
                </a:solidFill>
                <a:latin typeface="Segoe UI"/>
              </a:rPr>
              <a:t>–  </a:t>
            </a:r>
            <a:r>
              <a:rPr sz="1150" b="0" i="0">
                <a:solidFill>
                  <a:srgbClr val="161B22"/>
                </a:solidFill>
                <a:latin typeface="Segoe UI"/>
              </a:rPr>
              <a:t>5 of 7 catalogs in regular, rate-limited sync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565F6E"/>
                </a:solidFill>
                <a:latin typeface="Segoe UI"/>
              </a:rPr>
              <a:t>–  </a:t>
            </a:r>
            <a:r>
              <a:rPr sz="1150" b="0" i="0">
                <a:solidFill>
                  <a:srgbClr val="161B22"/>
                </a:solidFill>
                <a:latin typeface="Segoe UI"/>
              </a:rPr>
              <a:t>Both models genuinely invoked — no hardcoded fallback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565F6E"/>
                </a:solidFill>
                <a:latin typeface="Segoe UI"/>
              </a:rPr>
              <a:t>–  </a:t>
            </a:r>
            <a:r>
              <a:rPr sz="1150" b="0" i="0">
                <a:solidFill>
                  <a:srgbClr val="161B22"/>
                </a:solidFill>
                <a:latin typeface="Segoe UI"/>
              </a:rPr>
              <a:t>Idempotent, upserting ingestion with full change history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565F6E"/>
                </a:solidFill>
                <a:latin typeface="Segoe UI"/>
              </a:rPr>
              <a:t>–  </a:t>
            </a:r>
            <a:r>
              <a:rPr sz="1150" b="0" i="0">
                <a:solidFill>
                  <a:srgbClr val="161B22"/>
                </a:solidFill>
                <a:latin typeface="Segoe UI"/>
              </a:rPr>
              <a:t>Postgres-ready schema for concurrent multi-user use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565F6E"/>
                </a:solidFill>
                <a:latin typeface="Segoe UI"/>
              </a:rPr>
              <a:t>–  </a:t>
            </a:r>
            <a:r>
              <a:rPr sz="1150" b="0" i="0">
                <a:solidFill>
                  <a:srgbClr val="161B22"/>
                </a:solidFill>
                <a:latin typeface="Segoe UI"/>
              </a:rPr>
              <a:t>VOTable / CSV / JSON export + cross-catalog ID resolver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572768"/>
            <a:ext cx="5455767" cy="2926080"/>
          </a:xfrm>
          <a:prstGeom prst="roundRect">
            <a:avLst>
              <a:gd name="adj" fmla="val 8000"/>
            </a:avLst>
          </a:prstGeom>
          <a:solidFill>
            <a:srgbClr val="E3E6EC"/>
          </a:solidFill>
          <a:ln w="12700">
            <a:solidFill>
              <a:srgbClr val="D3D7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5887" y="1719072"/>
            <a:ext cx="509000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565F6E"/>
                </a:solidFill>
                <a:latin typeface="Segoe UI"/>
              </a:rPr>
              <a:t>NOT DONE YET — BY DESIGN, NOT BY ACCIDENT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5887" y="2075688"/>
            <a:ext cx="5090007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565F6E"/>
                </a:solidFill>
                <a:latin typeface="Segoe UI"/>
              </a:rPr>
              <a:t>–  </a:t>
            </a:r>
            <a:r>
              <a:rPr sz="1150" b="0" i="0">
                <a:solidFill>
                  <a:srgbClr val="161B22"/>
                </a:solidFill>
                <a:latin typeface="Segoe UI"/>
              </a:rPr>
              <a:t>Random Forest retrain on 2MASS / Pan-STARRS features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565F6E"/>
                </a:solidFill>
                <a:latin typeface="Segoe UI"/>
              </a:rPr>
              <a:t>–  </a:t>
            </a:r>
            <a:r>
              <a:rPr sz="1150" b="0" i="0">
                <a:solidFill>
                  <a:srgbClr val="161B22"/>
                </a:solidFill>
                <a:latin typeface="Segoe UI"/>
              </a:rPr>
              <a:t>Real centroid + spectroscopy at full catalog scale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565F6E"/>
                </a:solidFill>
                <a:latin typeface="Segoe UI"/>
              </a:rPr>
              <a:t>–  </a:t>
            </a:r>
            <a:r>
              <a:rPr sz="1150" b="0" i="0">
                <a:solidFill>
                  <a:srgbClr val="161B22"/>
                </a:solidFill>
                <a:latin typeface="Segoe UI"/>
              </a:rPr>
              <a:t>A structured integration into ExoFOP-TESS itself</a:t>
            </a:r>
          </a:p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565F6E"/>
                </a:solidFill>
                <a:latin typeface="Segoe UI"/>
              </a:rPr>
              <a:t>–  </a:t>
            </a:r>
            <a:r>
              <a:rPr sz="1150" b="0" i="0">
                <a:solidFill>
                  <a:srgbClr val="161B22"/>
                </a:solidFill>
                <a:latin typeface="Segoe UI"/>
              </a:rPr>
              <a:t>Deep model retrained on real, not synthetic, light curves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73168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565F6E"/>
                </a:solidFill>
                <a:latin typeface="Consolas"/>
              </a:rPr>
              <a:t>Exoplanet Evidence Fusion Network — sources: DATA_FLOW.md and LIMITATIONS.md.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